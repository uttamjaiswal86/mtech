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6858000" cx="12192000"/>
  <p:notesSz cx="6858000" cy="9144000"/>
  <p:embeddedFontLst>
    <p:embeddedFont>
      <p:font typeface="Merriweather"/>
      <p:regular r:id="rId32"/>
      <p:bold r:id="rId33"/>
      <p:italic r:id="rId34"/>
      <p:boldItalic r:id="rId35"/>
    </p:embeddedFont>
    <p:embeddedFont>
      <p:font typeface="DM Sans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Merriweather-bold.fntdata"/><Relationship Id="rId10" Type="http://schemas.openxmlformats.org/officeDocument/2006/relationships/slide" Target="slides/slide5.xml"/><Relationship Id="rId32" Type="http://schemas.openxmlformats.org/officeDocument/2006/relationships/font" Target="fonts/Merriweather-regular.fntdata"/><Relationship Id="rId13" Type="http://schemas.openxmlformats.org/officeDocument/2006/relationships/slide" Target="slides/slide8.xml"/><Relationship Id="rId35" Type="http://schemas.openxmlformats.org/officeDocument/2006/relationships/font" Target="fonts/Merriweather-boldItalic.fntdata"/><Relationship Id="rId12" Type="http://schemas.openxmlformats.org/officeDocument/2006/relationships/slide" Target="slides/slide7.xml"/><Relationship Id="rId34" Type="http://schemas.openxmlformats.org/officeDocument/2006/relationships/font" Target="fonts/Merriweather-italic.fntdata"/><Relationship Id="rId15" Type="http://schemas.openxmlformats.org/officeDocument/2006/relationships/slide" Target="slides/slide10.xml"/><Relationship Id="rId37" Type="http://schemas.openxmlformats.org/officeDocument/2006/relationships/font" Target="fonts/DMSans-bold.fntdata"/><Relationship Id="rId14" Type="http://schemas.openxmlformats.org/officeDocument/2006/relationships/slide" Target="slides/slide9.xml"/><Relationship Id="rId36" Type="http://schemas.openxmlformats.org/officeDocument/2006/relationships/font" Target="fonts/DMSans-regular.fntdata"/><Relationship Id="rId17" Type="http://schemas.openxmlformats.org/officeDocument/2006/relationships/slide" Target="slides/slide12.xml"/><Relationship Id="rId39" Type="http://schemas.openxmlformats.org/officeDocument/2006/relationships/font" Target="fonts/DMSans-boldItalic.fntdata"/><Relationship Id="rId16" Type="http://schemas.openxmlformats.org/officeDocument/2006/relationships/slide" Target="slides/slide11.xml"/><Relationship Id="rId38" Type="http://schemas.openxmlformats.org/officeDocument/2006/relationships/font" Target="fonts/DMSans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18821bb1e_1_8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g3a18821bb1e_1_8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a18821bb1e_1_7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3a18821bb1e_1_7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a18821bb1e_1_3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g3a18821bb1e_1_3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a18821bb1e_1_9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g3a18821bb1e_1_9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a18821bb1e_1_9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g3a18821bb1e_1_9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a18821bb1e_1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g3a18821bb1e_1_2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a18821bb1e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g3a18821bb1e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a18821bb1e_1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g3a18821bb1e_1_9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a18821bb1e_1_6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g3a18821bb1e_1_6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a18821bb1e_1_5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g3a18821bb1e_1_5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a18821bb1e_1_9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g3a18821bb1e_1_9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a18821bb1e_1_9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g3a18821bb1e_1_9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a18821bb1e_1_9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g3a18821bb1e_1_9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a18821bb1e_1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g3a18821bb1e_1_1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3.png"/><Relationship Id="rId4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3.png"/><Relationship Id="rId4" Type="http://schemas.openxmlformats.org/officeDocument/2006/relationships/image" Target="../media/image1.png"/><Relationship Id="rId9" Type="http://schemas.openxmlformats.org/officeDocument/2006/relationships/image" Target="../media/image5.png"/><Relationship Id="rId5" Type="http://schemas.openxmlformats.org/officeDocument/2006/relationships/image" Target="../media/image22.png"/><Relationship Id="rId6" Type="http://schemas.openxmlformats.org/officeDocument/2006/relationships/image" Target="../media/image6.png"/><Relationship Id="rId7" Type="http://schemas.openxmlformats.org/officeDocument/2006/relationships/image" Target="../media/image13.png"/><Relationship Id="rId8" Type="http://schemas.openxmlformats.org/officeDocument/2006/relationships/image" Target="../media/image2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3.png"/><Relationship Id="rId4" Type="http://schemas.openxmlformats.org/officeDocument/2006/relationships/image" Target="../media/image4.png"/><Relationship Id="rId9" Type="http://schemas.openxmlformats.org/officeDocument/2006/relationships/image" Target="../media/image12.png"/><Relationship Id="rId5" Type="http://schemas.openxmlformats.org/officeDocument/2006/relationships/image" Target="../media/image10.png"/><Relationship Id="rId6" Type="http://schemas.openxmlformats.org/officeDocument/2006/relationships/image" Target="../media/image8.png"/><Relationship Id="rId7" Type="http://schemas.openxmlformats.org/officeDocument/2006/relationships/image" Target="../media/image16.png"/><Relationship Id="rId8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3.png"/><Relationship Id="rId4" Type="http://schemas.openxmlformats.org/officeDocument/2006/relationships/image" Target="../media/image7.png"/><Relationship Id="rId5" Type="http://schemas.openxmlformats.org/officeDocument/2006/relationships/image" Target="../media/image2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png"/><Relationship Id="rId4" Type="http://schemas.openxmlformats.org/officeDocument/2006/relationships/image" Target="../media/image11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3.png"/><Relationship Id="rId4" Type="http://schemas.openxmlformats.org/officeDocument/2006/relationships/image" Target="../media/image20.png"/><Relationship Id="rId5" Type="http://schemas.openxmlformats.org/officeDocument/2006/relationships/image" Target="../media/image18.png"/><Relationship Id="rId6" Type="http://schemas.openxmlformats.org/officeDocument/2006/relationships/image" Target="../media/image21.png"/><Relationship Id="rId7" Type="http://schemas.openxmlformats.org/officeDocument/2006/relationships/image" Target="../media/image2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37.png"/><Relationship Id="rId6" Type="http://schemas.openxmlformats.org/officeDocument/2006/relationships/image" Target="../media/image31.png"/><Relationship Id="rId7" Type="http://schemas.openxmlformats.org/officeDocument/2006/relationships/image" Target="../media/image47.png"/><Relationship Id="rId8" Type="http://schemas.openxmlformats.org/officeDocument/2006/relationships/image" Target="../media/image4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3.png"/><Relationship Id="rId4" Type="http://schemas.openxmlformats.org/officeDocument/2006/relationships/image" Target="../media/image35.png"/><Relationship Id="rId5" Type="http://schemas.openxmlformats.org/officeDocument/2006/relationships/image" Target="../media/image44.png"/><Relationship Id="rId6" Type="http://schemas.openxmlformats.org/officeDocument/2006/relationships/image" Target="../media/image42.png"/><Relationship Id="rId7" Type="http://schemas.openxmlformats.org/officeDocument/2006/relationships/image" Target="../media/image3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png"/><Relationship Id="rId4" Type="http://schemas.openxmlformats.org/officeDocument/2006/relationships/image" Target="../media/image28.png"/><Relationship Id="rId5" Type="http://schemas.openxmlformats.org/officeDocument/2006/relationships/image" Target="../media/image25.png"/><Relationship Id="rId6" Type="http://schemas.openxmlformats.org/officeDocument/2006/relationships/image" Target="../media/image36.png"/><Relationship Id="rId7" Type="http://schemas.openxmlformats.org/officeDocument/2006/relationships/image" Target="../media/image3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3.png"/><Relationship Id="rId4" Type="http://schemas.openxmlformats.org/officeDocument/2006/relationships/image" Target="../media/image30.png"/><Relationship Id="rId5" Type="http://schemas.openxmlformats.org/officeDocument/2006/relationships/image" Target="../media/image39.png"/><Relationship Id="rId6" Type="http://schemas.openxmlformats.org/officeDocument/2006/relationships/image" Target="../media/image34.png"/><Relationship Id="rId7" Type="http://schemas.openxmlformats.org/officeDocument/2006/relationships/image" Target="../media/image4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3.png"/><Relationship Id="rId4" Type="http://schemas.openxmlformats.org/officeDocument/2006/relationships/image" Target="../media/image40.png"/><Relationship Id="rId10" Type="http://schemas.openxmlformats.org/officeDocument/2006/relationships/image" Target="../media/image50.png"/><Relationship Id="rId9" Type="http://schemas.openxmlformats.org/officeDocument/2006/relationships/image" Target="../media/image46.png"/><Relationship Id="rId5" Type="http://schemas.openxmlformats.org/officeDocument/2006/relationships/image" Target="../media/image41.png"/><Relationship Id="rId6" Type="http://schemas.openxmlformats.org/officeDocument/2006/relationships/image" Target="../media/image56.png"/><Relationship Id="rId7" Type="http://schemas.openxmlformats.org/officeDocument/2006/relationships/image" Target="../media/image49.png"/><Relationship Id="rId8" Type="http://schemas.openxmlformats.org/officeDocument/2006/relationships/image" Target="../media/image7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3.png"/><Relationship Id="rId4" Type="http://schemas.openxmlformats.org/officeDocument/2006/relationships/image" Target="../media/image38.png"/><Relationship Id="rId5" Type="http://schemas.openxmlformats.org/officeDocument/2006/relationships/image" Target="../media/image48.png"/><Relationship Id="rId6" Type="http://schemas.openxmlformats.org/officeDocument/2006/relationships/image" Target="../media/image52.png"/><Relationship Id="rId7" Type="http://schemas.openxmlformats.org/officeDocument/2006/relationships/image" Target="../media/image54.png"/><Relationship Id="rId8" Type="http://schemas.openxmlformats.org/officeDocument/2006/relationships/image" Target="../media/image5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.png"/><Relationship Id="rId4" Type="http://schemas.openxmlformats.org/officeDocument/2006/relationships/image" Target="../media/image38.png"/><Relationship Id="rId9" Type="http://schemas.openxmlformats.org/officeDocument/2006/relationships/image" Target="../media/image61.png"/><Relationship Id="rId5" Type="http://schemas.openxmlformats.org/officeDocument/2006/relationships/image" Target="../media/image48.png"/><Relationship Id="rId6" Type="http://schemas.openxmlformats.org/officeDocument/2006/relationships/image" Target="../media/image52.png"/><Relationship Id="rId7" Type="http://schemas.openxmlformats.org/officeDocument/2006/relationships/image" Target="../media/image54.png"/><Relationship Id="rId8" Type="http://schemas.openxmlformats.org/officeDocument/2006/relationships/image" Target="../media/image5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3.png"/><Relationship Id="rId4" Type="http://schemas.openxmlformats.org/officeDocument/2006/relationships/image" Target="../media/image55.png"/><Relationship Id="rId5" Type="http://schemas.openxmlformats.org/officeDocument/2006/relationships/image" Target="../media/image5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3.png"/><Relationship Id="rId4" Type="http://schemas.openxmlformats.org/officeDocument/2006/relationships/image" Target="../media/image75.png"/><Relationship Id="rId5" Type="http://schemas.openxmlformats.org/officeDocument/2006/relationships/image" Target="../media/image5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3.png"/><Relationship Id="rId4" Type="http://schemas.openxmlformats.org/officeDocument/2006/relationships/image" Target="../media/image63.png"/><Relationship Id="rId5" Type="http://schemas.openxmlformats.org/officeDocument/2006/relationships/image" Target="../media/image60.png"/><Relationship Id="rId6" Type="http://schemas.openxmlformats.org/officeDocument/2006/relationships/image" Target="../media/image6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3.png"/><Relationship Id="rId4" Type="http://schemas.openxmlformats.org/officeDocument/2006/relationships/image" Target="../media/image74.png"/><Relationship Id="rId5" Type="http://schemas.openxmlformats.org/officeDocument/2006/relationships/image" Target="../media/image67.png"/><Relationship Id="rId6" Type="http://schemas.openxmlformats.org/officeDocument/2006/relationships/image" Target="../media/image72.png"/><Relationship Id="rId7" Type="http://schemas.openxmlformats.org/officeDocument/2006/relationships/image" Target="../media/image62.png"/><Relationship Id="rId8" Type="http://schemas.openxmlformats.org/officeDocument/2006/relationships/image" Target="../media/image7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3.png"/><Relationship Id="rId4" Type="http://schemas.openxmlformats.org/officeDocument/2006/relationships/image" Target="../media/image71.png"/><Relationship Id="rId5" Type="http://schemas.openxmlformats.org/officeDocument/2006/relationships/image" Target="../media/image64.png"/><Relationship Id="rId6" Type="http://schemas.openxmlformats.org/officeDocument/2006/relationships/image" Target="../media/image6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3.png"/><Relationship Id="rId4" Type="http://schemas.openxmlformats.org/officeDocument/2006/relationships/image" Target="../media/image69.png"/><Relationship Id="rId5" Type="http://schemas.openxmlformats.org/officeDocument/2006/relationships/image" Target="../media/image59.png"/><Relationship Id="rId6" Type="http://schemas.openxmlformats.org/officeDocument/2006/relationships/image" Target="../media/image76.png"/><Relationship Id="rId7" Type="http://schemas.openxmlformats.org/officeDocument/2006/relationships/image" Target="../media/image6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3.png"/><Relationship Id="rId4" Type="http://schemas.openxmlformats.org/officeDocument/2006/relationships/image" Target="../media/image7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24500" y="1938337"/>
            <a:ext cx="1143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455419" y="3405187"/>
            <a:ext cx="9281160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2B2B88"/>
                </a:solidFill>
                <a:latin typeface="Merriweather"/>
                <a:ea typeface="Merriweather"/>
                <a:cs typeface="Merriweather"/>
                <a:sym typeface="Merriweather"/>
              </a:rPr>
              <a:t>A Simple Guide to Matrices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676400" y="4329112"/>
            <a:ext cx="88392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Key Concepts from Linear Algebra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1357312" y="2552700"/>
            <a:ext cx="2809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Why Study Linear Algebra?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4833937" y="2552700"/>
            <a:ext cx="2809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What is Linear Algebra?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8310562" y="2552700"/>
            <a:ext cx="2809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Definitions: Matrix, Vector, Scalar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1357312" y="2952750"/>
            <a:ext cx="2809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Matrix Algebra &amp; Transpose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4833937" y="2952750"/>
            <a:ext cx="2809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Matrix Multiplication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8310562" y="2952750"/>
            <a:ext cx="2809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Special Types of Matrices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1357312" y="3352800"/>
            <a:ext cx="2809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Linear Systems (Ax = b)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4833937" y="3352800"/>
            <a:ext cx="2809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The Three Solution Types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310562" y="3352800"/>
            <a:ext cx="2809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Elementary Row Operations (EROs)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357312" y="3752850"/>
            <a:ext cx="2809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Row Echelon Form (REF)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4833937" y="3752850"/>
            <a:ext cx="2809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Reduced Row Echelon Form (RREF)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8310562" y="3752850"/>
            <a:ext cx="2809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Gaussian vs. Gauss-Jordan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1357312" y="4152900"/>
            <a:ext cx="2809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Rank of a Matrix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4833937" y="4152900"/>
            <a:ext cx="2809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Rank &amp; System Solutions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8310562" y="4152900"/>
            <a:ext cx="2809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Pivot vs. Free Variables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1357312" y="4552950"/>
            <a:ext cx="2809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Minor, Cofactor, Determinant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4833937" y="4552950"/>
            <a:ext cx="2809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Adjoint &amp; Inverse (Method 1)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8310562" y="4552950"/>
            <a:ext cx="2809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Finding the Inverse (Method 2)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1357312" y="4953000"/>
            <a:ext cx="2809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Practice Questions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1071562" y="2552700"/>
            <a:ext cx="76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B78A2D"/>
                </a:solidFill>
                <a:latin typeface="DM Sans"/>
                <a:ea typeface="DM Sans"/>
                <a:cs typeface="DM Sans"/>
                <a:sym typeface="DM Sans"/>
              </a:rPr>
              <a:t>»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4548187" y="2552700"/>
            <a:ext cx="76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B78A2D"/>
                </a:solidFill>
                <a:latin typeface="DM Sans"/>
                <a:ea typeface="DM Sans"/>
                <a:cs typeface="DM Sans"/>
                <a:sym typeface="DM Sans"/>
              </a:rPr>
              <a:t>»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8024812" y="2552700"/>
            <a:ext cx="76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B78A2D"/>
                </a:solidFill>
                <a:latin typeface="DM Sans"/>
                <a:ea typeface="DM Sans"/>
                <a:cs typeface="DM Sans"/>
                <a:sym typeface="DM Sans"/>
              </a:rPr>
              <a:t>»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1071562" y="2952750"/>
            <a:ext cx="76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B78A2D"/>
                </a:solidFill>
                <a:latin typeface="DM Sans"/>
                <a:ea typeface="DM Sans"/>
                <a:cs typeface="DM Sans"/>
                <a:sym typeface="DM Sans"/>
              </a:rPr>
              <a:t>»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4548187" y="2952750"/>
            <a:ext cx="76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B78A2D"/>
                </a:solidFill>
                <a:latin typeface="DM Sans"/>
                <a:ea typeface="DM Sans"/>
                <a:cs typeface="DM Sans"/>
                <a:sym typeface="DM Sans"/>
              </a:rPr>
              <a:t>»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8024812" y="2952750"/>
            <a:ext cx="76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B78A2D"/>
                </a:solidFill>
                <a:latin typeface="DM Sans"/>
                <a:ea typeface="DM Sans"/>
                <a:cs typeface="DM Sans"/>
                <a:sym typeface="DM Sans"/>
              </a:rPr>
              <a:t>»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1071562" y="3352800"/>
            <a:ext cx="76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B78A2D"/>
                </a:solidFill>
                <a:latin typeface="DM Sans"/>
                <a:ea typeface="DM Sans"/>
                <a:cs typeface="DM Sans"/>
                <a:sym typeface="DM Sans"/>
              </a:rPr>
              <a:t>»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4548187" y="3352800"/>
            <a:ext cx="76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B78A2D"/>
                </a:solidFill>
                <a:latin typeface="DM Sans"/>
                <a:ea typeface="DM Sans"/>
                <a:cs typeface="DM Sans"/>
                <a:sym typeface="DM Sans"/>
              </a:rPr>
              <a:t>»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8024812" y="3352800"/>
            <a:ext cx="76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B78A2D"/>
                </a:solidFill>
                <a:latin typeface="DM Sans"/>
                <a:ea typeface="DM Sans"/>
                <a:cs typeface="DM Sans"/>
                <a:sym typeface="DM Sans"/>
              </a:rPr>
              <a:t>»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1071562" y="3752850"/>
            <a:ext cx="76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B78A2D"/>
                </a:solidFill>
                <a:latin typeface="DM Sans"/>
                <a:ea typeface="DM Sans"/>
                <a:cs typeface="DM Sans"/>
                <a:sym typeface="DM Sans"/>
              </a:rPr>
              <a:t>»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4548187" y="3752850"/>
            <a:ext cx="76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B78A2D"/>
                </a:solidFill>
                <a:latin typeface="DM Sans"/>
                <a:ea typeface="DM Sans"/>
                <a:cs typeface="DM Sans"/>
                <a:sym typeface="DM Sans"/>
              </a:rPr>
              <a:t>»</a:t>
            </a:r>
            <a:endParaRPr/>
          </a:p>
        </p:txBody>
      </p:sp>
      <p:sp>
        <p:nvSpPr>
          <p:cNvPr id="123" name="Google Shape;123;p14"/>
          <p:cNvSpPr txBox="1"/>
          <p:nvPr/>
        </p:nvSpPr>
        <p:spPr>
          <a:xfrm>
            <a:off x="8024812" y="3752850"/>
            <a:ext cx="76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B78A2D"/>
                </a:solidFill>
                <a:latin typeface="DM Sans"/>
                <a:ea typeface="DM Sans"/>
                <a:cs typeface="DM Sans"/>
                <a:sym typeface="DM Sans"/>
              </a:rPr>
              <a:t>»</a:t>
            </a:r>
            <a:endParaRPr/>
          </a:p>
        </p:txBody>
      </p:sp>
      <p:sp>
        <p:nvSpPr>
          <p:cNvPr id="124" name="Google Shape;124;p14"/>
          <p:cNvSpPr txBox="1"/>
          <p:nvPr/>
        </p:nvSpPr>
        <p:spPr>
          <a:xfrm>
            <a:off x="1071562" y="4152900"/>
            <a:ext cx="76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B78A2D"/>
                </a:solidFill>
                <a:latin typeface="DM Sans"/>
                <a:ea typeface="DM Sans"/>
                <a:cs typeface="DM Sans"/>
                <a:sym typeface="DM Sans"/>
              </a:rPr>
              <a:t>»</a:t>
            </a:r>
            <a:endParaRPr/>
          </a:p>
        </p:txBody>
      </p:sp>
      <p:sp>
        <p:nvSpPr>
          <p:cNvPr id="125" name="Google Shape;125;p14"/>
          <p:cNvSpPr txBox="1"/>
          <p:nvPr/>
        </p:nvSpPr>
        <p:spPr>
          <a:xfrm>
            <a:off x="4548187" y="4152900"/>
            <a:ext cx="76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B78A2D"/>
                </a:solidFill>
                <a:latin typeface="DM Sans"/>
                <a:ea typeface="DM Sans"/>
                <a:cs typeface="DM Sans"/>
                <a:sym typeface="DM Sans"/>
              </a:rPr>
              <a:t>»</a:t>
            </a:r>
            <a:endParaRPr/>
          </a:p>
        </p:txBody>
      </p:sp>
      <p:sp>
        <p:nvSpPr>
          <p:cNvPr id="126" name="Google Shape;126;p14"/>
          <p:cNvSpPr txBox="1"/>
          <p:nvPr/>
        </p:nvSpPr>
        <p:spPr>
          <a:xfrm>
            <a:off x="8024812" y="4152900"/>
            <a:ext cx="76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B78A2D"/>
                </a:solidFill>
                <a:latin typeface="DM Sans"/>
                <a:ea typeface="DM Sans"/>
                <a:cs typeface="DM Sans"/>
                <a:sym typeface="DM Sans"/>
              </a:rPr>
              <a:t>»</a:t>
            </a:r>
            <a:endParaRPr/>
          </a:p>
        </p:txBody>
      </p:sp>
      <p:sp>
        <p:nvSpPr>
          <p:cNvPr id="127" name="Google Shape;127;p14"/>
          <p:cNvSpPr txBox="1"/>
          <p:nvPr/>
        </p:nvSpPr>
        <p:spPr>
          <a:xfrm>
            <a:off x="1071562" y="4552950"/>
            <a:ext cx="76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B78A2D"/>
                </a:solidFill>
                <a:latin typeface="DM Sans"/>
                <a:ea typeface="DM Sans"/>
                <a:cs typeface="DM Sans"/>
                <a:sym typeface="DM Sans"/>
              </a:rPr>
              <a:t>»</a:t>
            </a:r>
            <a:endParaRPr/>
          </a:p>
        </p:txBody>
      </p:sp>
      <p:sp>
        <p:nvSpPr>
          <p:cNvPr id="128" name="Google Shape;128;p14"/>
          <p:cNvSpPr txBox="1"/>
          <p:nvPr/>
        </p:nvSpPr>
        <p:spPr>
          <a:xfrm>
            <a:off x="4548187" y="4552950"/>
            <a:ext cx="76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B78A2D"/>
                </a:solidFill>
                <a:latin typeface="DM Sans"/>
                <a:ea typeface="DM Sans"/>
                <a:cs typeface="DM Sans"/>
                <a:sym typeface="DM Sans"/>
              </a:rPr>
              <a:t>»</a:t>
            </a:r>
            <a:endParaRPr/>
          </a:p>
        </p:txBody>
      </p:sp>
      <p:sp>
        <p:nvSpPr>
          <p:cNvPr id="129" name="Google Shape;129;p14"/>
          <p:cNvSpPr txBox="1"/>
          <p:nvPr/>
        </p:nvSpPr>
        <p:spPr>
          <a:xfrm>
            <a:off x="8024812" y="4552950"/>
            <a:ext cx="76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B78A2D"/>
                </a:solidFill>
                <a:latin typeface="DM Sans"/>
                <a:ea typeface="DM Sans"/>
                <a:cs typeface="DM Sans"/>
                <a:sym typeface="DM Sans"/>
              </a:rPr>
              <a:t>»</a:t>
            </a:r>
            <a:endParaRPr/>
          </a:p>
        </p:txBody>
      </p:sp>
      <p:sp>
        <p:nvSpPr>
          <p:cNvPr id="130" name="Google Shape;130;p14"/>
          <p:cNvSpPr txBox="1"/>
          <p:nvPr/>
        </p:nvSpPr>
        <p:spPr>
          <a:xfrm>
            <a:off x="1071562" y="4953000"/>
            <a:ext cx="76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B78A2D"/>
                </a:solidFill>
                <a:latin typeface="DM Sans"/>
                <a:ea typeface="DM Sans"/>
                <a:cs typeface="DM Sans"/>
                <a:sym typeface="DM Sans"/>
              </a:rPr>
              <a:t>»</a:t>
            </a:r>
            <a:endParaRPr/>
          </a:p>
        </p:txBody>
      </p:sp>
      <p:sp>
        <p:nvSpPr>
          <p:cNvPr id="131" name="Google Shape;131;p14"/>
          <p:cNvSpPr txBox="1"/>
          <p:nvPr/>
        </p:nvSpPr>
        <p:spPr>
          <a:xfrm>
            <a:off x="571500" y="571500"/>
            <a:ext cx="11601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B2B88"/>
                </a:solidFill>
                <a:latin typeface="Merriweather"/>
                <a:ea typeface="Merriweather"/>
                <a:cs typeface="Merriweather"/>
                <a:sym typeface="Merriweather"/>
              </a:rPr>
              <a:t>Contents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6" name="Google Shape;13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33562"/>
            <a:ext cx="3429000" cy="409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1833562"/>
            <a:ext cx="3429000" cy="409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0" y="1833562"/>
            <a:ext cx="3429000" cy="409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5"/>
          <p:cNvSpPr txBox="1"/>
          <p:nvPr/>
        </p:nvSpPr>
        <p:spPr>
          <a:xfrm>
            <a:off x="865822" y="2843212"/>
            <a:ext cx="2840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B78A2D"/>
                </a:solidFill>
                <a:latin typeface="Merriweather"/>
                <a:ea typeface="Merriweather"/>
                <a:cs typeface="Merriweather"/>
                <a:sym typeface="Merriweather"/>
              </a:rPr>
              <a:t>Data Representation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866775" y="3538537"/>
            <a:ext cx="2838600" cy="21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Represents complex data as simple vectors. A house can be a vector: [Bedrooms, Area, Price]. Text (like from AI models) is also converted to vectors.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4615815" y="2843212"/>
            <a:ext cx="2960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B78A2D"/>
                </a:solidFill>
                <a:latin typeface="Merriweather"/>
                <a:ea typeface="Merriweather"/>
                <a:cs typeface="Merriweather"/>
                <a:sym typeface="Merriweather"/>
              </a:rPr>
              <a:t>Distance &amp; Similarity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4676775" y="3538537"/>
            <a:ext cx="2838600" cy="21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The "dot product" (a vector operation) is used to measure the distance or similarity between two pieces of data, like two documents or images.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8690848" y="2843212"/>
            <a:ext cx="2430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B78A2D"/>
                </a:solidFill>
                <a:latin typeface="Merriweather"/>
                <a:ea typeface="Merriweather"/>
                <a:cs typeface="Merriweather"/>
                <a:sym typeface="Merriweather"/>
              </a:rPr>
              <a:t>Data Redundancy</a:t>
            </a:r>
            <a:endParaRPr/>
          </a:p>
        </p:txBody>
      </p:sp>
      <p:sp>
        <p:nvSpPr>
          <p:cNvPr id="145" name="Google Shape;145;p15"/>
          <p:cNvSpPr txBox="1"/>
          <p:nvPr/>
        </p:nvSpPr>
        <p:spPr>
          <a:xfrm>
            <a:off x="8486775" y="3538537"/>
            <a:ext cx="2838600" cy="21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We can check if two vectors are "linearly dependent." If they are, one vector is just a combination of the other and might be redundant data.</a:t>
            </a:r>
            <a:endParaRPr/>
          </a:p>
        </p:txBody>
      </p:sp>
      <p:pic>
        <p:nvPicPr>
          <p:cNvPr descr="image.png" id="146" name="Google Shape;146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14550" y="2147887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0" y="2147887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77400" y="214788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5"/>
          <p:cNvSpPr txBox="1"/>
          <p:nvPr/>
        </p:nvSpPr>
        <p:spPr>
          <a:xfrm>
            <a:off x="571500" y="571500"/>
            <a:ext cx="11601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B2B88"/>
                </a:solidFill>
                <a:latin typeface="Merriweather"/>
                <a:ea typeface="Merriweather"/>
                <a:cs typeface="Merriweather"/>
                <a:sym typeface="Merriweather"/>
              </a:rPr>
              <a:t>Why Study Linear Algebra?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4" name="Google Shape;15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47887"/>
            <a:ext cx="3429000" cy="3467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2147887"/>
            <a:ext cx="3429000" cy="3467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0" y="2147887"/>
            <a:ext cx="3429000" cy="3467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6"/>
          <p:cNvSpPr txBox="1"/>
          <p:nvPr/>
        </p:nvSpPr>
        <p:spPr>
          <a:xfrm>
            <a:off x="1810940" y="3157537"/>
            <a:ext cx="950118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B78A2D"/>
                </a:solidFill>
                <a:latin typeface="Merriweather"/>
                <a:ea typeface="Merriweather"/>
                <a:cs typeface="Merriweather"/>
                <a:sym typeface="Merriweather"/>
              </a:rPr>
              <a:t>Matrix</a:t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866775" y="3852862"/>
            <a:ext cx="283845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 rectangular grid (or array) of numbers arranged in rows and columns.</a:t>
            </a:r>
            <a:endParaRPr/>
          </a:p>
        </p:txBody>
      </p:sp>
      <p:sp>
        <p:nvSpPr>
          <p:cNvPr id="160" name="Google Shape;160;p16"/>
          <p:cNvSpPr txBox="1"/>
          <p:nvPr/>
        </p:nvSpPr>
        <p:spPr>
          <a:xfrm>
            <a:off x="5665946" y="3157537"/>
            <a:ext cx="86010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B78A2D"/>
                </a:solidFill>
                <a:latin typeface="Merriweather"/>
                <a:ea typeface="Merriweather"/>
                <a:cs typeface="Merriweather"/>
                <a:sym typeface="Merriweather"/>
              </a:rPr>
              <a:t>Vector</a:t>
            </a:r>
            <a:endParaRPr/>
          </a:p>
        </p:txBody>
      </p:sp>
      <p:sp>
        <p:nvSpPr>
          <p:cNvPr id="161" name="Google Shape;161;p16"/>
          <p:cNvSpPr txBox="1"/>
          <p:nvPr/>
        </p:nvSpPr>
        <p:spPr>
          <a:xfrm>
            <a:off x="4676775" y="3852862"/>
            <a:ext cx="283845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 simple matrix that has only one row (a row vector) or only one column (a column vector).</a:t>
            </a:r>
            <a:endParaRPr/>
          </a:p>
        </p:txBody>
      </p:sp>
      <p:sp>
        <p:nvSpPr>
          <p:cNvPr id="162" name="Google Shape;162;p16"/>
          <p:cNvSpPr txBox="1"/>
          <p:nvPr/>
        </p:nvSpPr>
        <p:spPr>
          <a:xfrm>
            <a:off x="9480946" y="3157537"/>
            <a:ext cx="85010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B78A2D"/>
                </a:solidFill>
                <a:latin typeface="Merriweather"/>
                <a:ea typeface="Merriweather"/>
                <a:cs typeface="Merriweather"/>
                <a:sym typeface="Merriweather"/>
              </a:rPr>
              <a:t>Scalar</a:t>
            </a:r>
            <a:endParaRPr/>
          </a:p>
        </p:txBody>
      </p:sp>
      <p:sp>
        <p:nvSpPr>
          <p:cNvPr id="163" name="Google Shape;163;p16"/>
          <p:cNvSpPr txBox="1"/>
          <p:nvPr/>
        </p:nvSpPr>
        <p:spPr>
          <a:xfrm>
            <a:off x="8486775" y="3852862"/>
            <a:ext cx="28384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Just a single, plain number (like 5, -3, or 0.5), not a grid.</a:t>
            </a:r>
            <a:endParaRPr/>
          </a:p>
        </p:txBody>
      </p:sp>
      <p:pic>
        <p:nvPicPr>
          <p:cNvPr descr="image.png" id="164" name="Google Shape;164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57400" y="246221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38850" y="2462212"/>
            <a:ext cx="1143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705975" y="2462212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6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B2B88"/>
                </a:solidFill>
                <a:latin typeface="Merriweather"/>
                <a:ea typeface="Merriweather"/>
                <a:cs typeface="Merriweather"/>
                <a:sym typeface="Merriweather"/>
              </a:rPr>
              <a:t>Definitions: The Building Blocks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2" name="Google Shape;17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68264"/>
            <a:ext cx="5286375" cy="36261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068264"/>
            <a:ext cx="5286375" cy="3626197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7"/>
          <p:cNvSpPr txBox="1"/>
          <p:nvPr/>
        </p:nvSpPr>
        <p:spPr>
          <a:xfrm>
            <a:off x="962025" y="2458789"/>
            <a:ext cx="473059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B78A2D"/>
                </a:solidFill>
                <a:latin typeface="Merriweather"/>
                <a:ea typeface="Merriweather"/>
                <a:cs typeface="Merriweather"/>
                <a:sym typeface="Merriweather"/>
              </a:rPr>
              <a:t>Matrix Algebra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6724650" y="2458789"/>
            <a:ext cx="4730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B78A2D"/>
                </a:solidFill>
                <a:latin typeface="Merriweather"/>
                <a:ea typeface="Merriweather"/>
                <a:cs typeface="Merriweather"/>
                <a:sym typeface="Merriweather"/>
              </a:rPr>
              <a:t>Transpose     A</a:t>
            </a:r>
            <a:r>
              <a:rPr b="1" baseline="30000" i="0" lang="en-US" sz="2100" u="none" cap="none" strike="noStrike">
                <a:solidFill>
                  <a:srgbClr val="B78A2D"/>
                </a:solidFill>
                <a:latin typeface="Merriweather"/>
                <a:ea typeface="Merriweather"/>
                <a:cs typeface="Merriweather"/>
                <a:sym typeface="Merriweather"/>
              </a:rPr>
              <a:t>T </a:t>
            </a:r>
            <a:r>
              <a:rPr b="1" i="0" lang="en-US" sz="2100" u="none" cap="none" strike="noStrike">
                <a:solidFill>
                  <a:srgbClr val="B78A2D"/>
                </a:solidFill>
                <a:latin typeface="Merriweather"/>
                <a:ea typeface="Merriweather"/>
                <a:cs typeface="Merriweather"/>
                <a:sym typeface="Merriweather"/>
              </a:rPr>
              <a:t>   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1247775" y="2944564"/>
            <a:ext cx="4219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Addition (A+B):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Add the numbers in the matching positions. </a:t>
            </a:r>
            <a:r>
              <a:rPr b="0" i="1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(Matrices must be the same size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).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1247775" y="4030414"/>
            <a:ext cx="4219575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Scalar Multiply (cA):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Multiply *every* single number inside the matrix by the scalar (c).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7010400" y="2978050"/>
            <a:ext cx="42195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The Rule: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Flip the matrix over its diagonal.</a:t>
            </a:r>
            <a:endParaRPr/>
          </a:p>
        </p:txBody>
      </p:sp>
      <p:sp>
        <p:nvSpPr>
          <p:cNvPr id="180" name="Google Shape;180;p17"/>
          <p:cNvSpPr txBox="1"/>
          <p:nvPr/>
        </p:nvSpPr>
        <p:spPr>
          <a:xfrm>
            <a:off x="7010400" y="3435250"/>
            <a:ext cx="4219575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The 1st row becomes the 1st column, the 2nd row becomes the 2nd column, and so on.</a:t>
            </a:r>
            <a:endParaRPr/>
          </a:p>
        </p:txBody>
      </p:sp>
      <p:sp>
        <p:nvSpPr>
          <p:cNvPr id="181" name="Google Shape;181;p17"/>
          <p:cNvSpPr txBox="1"/>
          <p:nvPr/>
        </p:nvSpPr>
        <p:spPr>
          <a:xfrm>
            <a:off x="7010400" y="4521100"/>
            <a:ext cx="4219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Important Rule: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    AB</a:t>
            </a:r>
            <a:r>
              <a:rPr b="0" baseline="3000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  =   B</a:t>
            </a:r>
            <a:r>
              <a:rPr b="0" baseline="3000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A</a:t>
            </a:r>
            <a:r>
              <a:rPr b="0" baseline="3000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/>
          </a:p>
        </p:txBody>
      </p:sp>
      <p:sp>
        <p:nvSpPr>
          <p:cNvPr id="182" name="Google Shape;182;p17"/>
          <p:cNvSpPr txBox="1"/>
          <p:nvPr/>
        </p:nvSpPr>
        <p:spPr>
          <a:xfrm>
            <a:off x="962025" y="2944564"/>
            <a:ext cx="857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B2B88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83" name="Google Shape;183;p17"/>
          <p:cNvSpPr txBox="1"/>
          <p:nvPr/>
        </p:nvSpPr>
        <p:spPr>
          <a:xfrm>
            <a:off x="962025" y="4030414"/>
            <a:ext cx="857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B2B88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84" name="Google Shape;184;p17"/>
          <p:cNvSpPr txBox="1"/>
          <p:nvPr/>
        </p:nvSpPr>
        <p:spPr>
          <a:xfrm>
            <a:off x="6724650" y="2978050"/>
            <a:ext cx="857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B2B88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85" name="Google Shape;185;p17"/>
          <p:cNvSpPr txBox="1"/>
          <p:nvPr/>
        </p:nvSpPr>
        <p:spPr>
          <a:xfrm>
            <a:off x="6724650" y="3435250"/>
            <a:ext cx="857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B2B88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86" name="Google Shape;186;p17"/>
          <p:cNvSpPr txBox="1"/>
          <p:nvPr/>
        </p:nvSpPr>
        <p:spPr>
          <a:xfrm>
            <a:off x="6724650" y="4521100"/>
            <a:ext cx="857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B2B88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87" name="Google Shape;187;p17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B2B88"/>
                </a:solidFill>
                <a:latin typeface="Merriweather"/>
                <a:ea typeface="Merriweather"/>
                <a:cs typeface="Merriweather"/>
                <a:sym typeface="Merriweather"/>
              </a:rPr>
              <a:t>Basic Operations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2" name="Google Shape;19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8"/>
          <p:cNvSpPr txBox="1"/>
          <p:nvPr/>
        </p:nvSpPr>
        <p:spPr>
          <a:xfrm>
            <a:off x="2190750" y="2557462"/>
            <a:ext cx="81915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B2B88"/>
                </a:solidFill>
                <a:latin typeface="DM Sans"/>
                <a:ea typeface="DM Sans"/>
                <a:cs typeface="DM Sans"/>
                <a:sym typeface="DM Sans"/>
              </a:rPr>
              <a:t>The Rule: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The number of *columns* in the 1st matrix (A) must equal the number of *rows* in the 2nd matrix (B).</a:t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2190750" y="3376612"/>
            <a:ext cx="81915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B2B88"/>
                </a:solidFill>
                <a:latin typeface="DM Sans"/>
                <a:ea typeface="DM Sans"/>
                <a:cs typeface="DM Sans"/>
                <a:sym typeface="DM Sans"/>
              </a:rPr>
              <a:t>The Result: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If A is (m x </a:t>
            </a:r>
            <a:r>
              <a:rPr b="1" i="0" lang="en-US" sz="1650" u="none" cap="none" strike="noStrike">
                <a:solidFill>
                  <a:srgbClr val="2B2B88"/>
                </a:solidFill>
                <a:latin typeface="DM Sans"/>
                <a:ea typeface="DM Sans"/>
                <a:cs typeface="DM Sans"/>
                <a:sym typeface="DM Sans"/>
              </a:rPr>
              <a:t>n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) and B is (</a:t>
            </a:r>
            <a:r>
              <a:rPr b="1" i="0" lang="en-US" sz="1650" u="none" cap="none" strike="noStrike">
                <a:solidFill>
                  <a:srgbClr val="2B2B88"/>
                </a:solidFill>
                <a:latin typeface="DM Sans"/>
                <a:ea typeface="DM Sans"/>
                <a:cs typeface="DM Sans"/>
                <a:sym typeface="DM Sans"/>
              </a:rPr>
              <a:t>n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x p), the result C will be (m x p).</a:t>
            </a:r>
            <a:endParaRPr/>
          </a:p>
        </p:txBody>
      </p:sp>
      <p:sp>
        <p:nvSpPr>
          <p:cNvPr id="195" name="Google Shape;195;p18"/>
          <p:cNvSpPr txBox="1"/>
          <p:nvPr/>
        </p:nvSpPr>
        <p:spPr>
          <a:xfrm>
            <a:off x="2190750" y="3881437"/>
            <a:ext cx="81915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B2B88"/>
                </a:solidFill>
                <a:latin typeface="DM Sans"/>
                <a:ea typeface="DM Sans"/>
                <a:cs typeface="DM Sans"/>
                <a:sym typeface="DM Sans"/>
              </a:rPr>
              <a:t>How-To: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Multiply each element of a *row* from A by the matching element of a *column* from B, then add the results.</a:t>
            </a:r>
            <a:endParaRPr/>
          </a:p>
        </p:txBody>
      </p:sp>
      <p:sp>
        <p:nvSpPr>
          <p:cNvPr id="196" name="Google Shape;196;p18"/>
          <p:cNvSpPr txBox="1"/>
          <p:nvPr/>
        </p:nvSpPr>
        <p:spPr>
          <a:xfrm>
            <a:off x="2190750" y="4700587"/>
            <a:ext cx="81915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B2B88"/>
                </a:solidFill>
                <a:latin typeface="DM Sans"/>
                <a:ea typeface="DM Sans"/>
                <a:cs typeface="DM Sans"/>
                <a:sym typeface="DM Sans"/>
              </a:rPr>
              <a:t>Warning: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Order matters! In most cases, </a:t>
            </a:r>
            <a:r>
              <a:rPr b="1" i="0" lang="en-US" sz="1650" u="none" cap="none" strike="noStrike">
                <a:solidFill>
                  <a:srgbClr val="2B2B88"/>
                </a:solidFill>
                <a:latin typeface="DM Sans"/>
                <a:ea typeface="DM Sans"/>
                <a:cs typeface="DM Sans"/>
                <a:sym typeface="DM Sans"/>
              </a:rPr>
              <a:t>AB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is </a:t>
            </a:r>
            <a:r>
              <a:rPr b="1" i="0" lang="en-US" sz="1650" u="none" cap="none" strike="noStrike">
                <a:solidFill>
                  <a:srgbClr val="2B2B88"/>
                </a:solidFill>
                <a:latin typeface="DM Sans"/>
                <a:ea typeface="DM Sans"/>
                <a:cs typeface="DM Sans"/>
                <a:sym typeface="DM Sans"/>
              </a:rPr>
              <a:t>NOT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the same as </a:t>
            </a:r>
            <a:r>
              <a:rPr b="1" i="0" lang="en-US" sz="1650" u="none" cap="none" strike="noStrike">
                <a:solidFill>
                  <a:srgbClr val="2B2B88"/>
                </a:solidFill>
                <a:latin typeface="DM Sans"/>
                <a:ea typeface="DM Sans"/>
                <a:cs typeface="DM Sans"/>
                <a:sym typeface="DM Sans"/>
              </a:rPr>
              <a:t>BA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pic>
        <p:nvPicPr>
          <p:cNvPr descr="image.png" id="197" name="Google Shape;19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2605087"/>
            <a:ext cx="2381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3424237"/>
            <a:ext cx="2381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3929062"/>
            <a:ext cx="2381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09750" y="4748212"/>
            <a:ext cx="2381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8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B2B88"/>
                </a:solidFill>
                <a:latin typeface="Merriweather"/>
                <a:ea typeface="Merriweather"/>
                <a:cs typeface="Merriweather"/>
                <a:sym typeface="Merriweather"/>
              </a:rPr>
              <a:t>Matrix Multiplication (C = AB)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6" name="Google Shape;20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29817"/>
            <a:ext cx="5286375" cy="21030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829817"/>
            <a:ext cx="5286375" cy="210309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9"/>
          <p:cNvSpPr txBox="1"/>
          <p:nvPr/>
        </p:nvSpPr>
        <p:spPr>
          <a:xfrm>
            <a:off x="962025" y="3220342"/>
            <a:ext cx="4730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B78A2D"/>
                </a:solidFill>
                <a:latin typeface="Merriweather"/>
                <a:ea typeface="Merriweather"/>
                <a:cs typeface="Merriweather"/>
                <a:sym typeface="Merriweather"/>
              </a:rPr>
              <a:t>Question 1 </a:t>
            </a:r>
            <a:endParaRPr/>
          </a:p>
        </p:txBody>
      </p:sp>
      <p:sp>
        <p:nvSpPr>
          <p:cNvPr id="210" name="Google Shape;210;p19"/>
          <p:cNvSpPr txBox="1"/>
          <p:nvPr/>
        </p:nvSpPr>
        <p:spPr>
          <a:xfrm>
            <a:off x="6724650" y="3220342"/>
            <a:ext cx="4730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B78A2D"/>
                </a:solidFill>
                <a:latin typeface="Merriweather"/>
                <a:ea typeface="Merriweather"/>
                <a:cs typeface="Merriweather"/>
                <a:sym typeface="Merriweather"/>
              </a:rPr>
              <a:t>Question 2 </a:t>
            </a:r>
            <a:endParaRPr/>
          </a:p>
        </p:txBody>
      </p:sp>
      <p:sp>
        <p:nvSpPr>
          <p:cNvPr id="211" name="Google Shape;211;p19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B2B88"/>
                </a:solidFill>
                <a:latin typeface="Merriweather"/>
                <a:ea typeface="Merriweather"/>
                <a:cs typeface="Merriweather"/>
                <a:sym typeface="Merriweather"/>
              </a:rPr>
              <a:t>Sample Questions: Multiplication</a:t>
            </a:r>
            <a:endParaRPr/>
          </a:p>
        </p:txBody>
      </p:sp>
      <p:pic>
        <p:nvPicPr>
          <p:cNvPr id="212" name="Google Shape;212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34163" y="3714313"/>
            <a:ext cx="4448175" cy="98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27688" y="3561913"/>
            <a:ext cx="3171825" cy="128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8" name="Google Shape;21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0"/>
          <p:cNvSpPr txBox="1"/>
          <p:nvPr/>
        </p:nvSpPr>
        <p:spPr>
          <a:xfrm>
            <a:off x="2190750" y="2293739"/>
            <a:ext cx="8191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B2B88"/>
                </a:solidFill>
                <a:latin typeface="DM Sans"/>
                <a:ea typeface="DM Sans"/>
                <a:cs typeface="DM Sans"/>
                <a:sym typeface="DM Sans"/>
              </a:rPr>
              <a:t>Symmetric: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A matrix that is equal to its own transpose.     A   =    A</a:t>
            </a:r>
            <a:r>
              <a:rPr b="0" baseline="3000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    </a:t>
            </a:r>
            <a:endParaRPr/>
          </a:p>
        </p:txBody>
      </p:sp>
      <p:sp>
        <p:nvSpPr>
          <p:cNvPr id="220" name="Google Shape;220;p20"/>
          <p:cNvSpPr txBox="1"/>
          <p:nvPr/>
        </p:nvSpPr>
        <p:spPr>
          <a:xfrm>
            <a:off x="2190750" y="2809875"/>
            <a:ext cx="8191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B2B88"/>
                </a:solidFill>
                <a:latin typeface="DM Sans"/>
                <a:ea typeface="DM Sans"/>
                <a:cs typeface="DM Sans"/>
                <a:sym typeface="DM Sans"/>
              </a:rPr>
              <a:t>Skew-Symmetric: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A matrix that is the *negative* of its transpose.     A   =   -    A</a:t>
            </a:r>
            <a:r>
              <a:rPr b="0" baseline="3000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    </a:t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2190750" y="3326010"/>
            <a:ext cx="81915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B2B88"/>
                </a:solidFill>
                <a:latin typeface="DM Sans"/>
                <a:ea typeface="DM Sans"/>
                <a:cs typeface="DM Sans"/>
                <a:sym typeface="DM Sans"/>
              </a:rPr>
              <a:t>Triangular: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Has all zeros either *above* (Lower) or *below* (Upper) the main diagonal.</a:t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2190750" y="4145160"/>
            <a:ext cx="81915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B2B88"/>
                </a:solidFill>
                <a:latin typeface="DM Sans"/>
                <a:ea typeface="DM Sans"/>
                <a:cs typeface="DM Sans"/>
                <a:sym typeface="DM Sans"/>
              </a:rPr>
              <a:t>Diagonal: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Has all zeros *except* on the main diagonal.</a:t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2190750" y="4649985"/>
            <a:ext cx="81915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B2B88"/>
                </a:solidFill>
                <a:latin typeface="DM Sans"/>
                <a:ea typeface="DM Sans"/>
                <a:cs typeface="DM Sans"/>
                <a:sym typeface="DM Sans"/>
              </a:rPr>
              <a:t>Identity (I):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A diagonal matrix with only 1s on the diagonal. It's the matrix version of the number 1.</a:t>
            </a:r>
            <a:endParaRPr/>
          </a:p>
        </p:txBody>
      </p:sp>
      <p:pic>
        <p:nvPicPr>
          <p:cNvPr descr="image.png" id="224" name="Google Shape;22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2341364"/>
            <a:ext cx="2381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2857500"/>
            <a:ext cx="2381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3373635"/>
            <a:ext cx="2381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09750" y="4192785"/>
            <a:ext cx="2381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809750" y="4697610"/>
            <a:ext cx="2381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0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B2B88"/>
                </a:solidFill>
                <a:latin typeface="Merriweather"/>
                <a:ea typeface="Merriweather"/>
                <a:cs typeface="Merriweather"/>
                <a:sym typeface="Merriweather"/>
              </a:rPr>
              <a:t>Special Types of Matrices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4" name="Google Shape;23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1"/>
          <p:cNvSpPr txBox="1"/>
          <p:nvPr/>
        </p:nvSpPr>
        <p:spPr>
          <a:xfrm>
            <a:off x="2286000" y="2771775"/>
            <a:ext cx="7620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These are the three "legal moves" you can use to simplify a matrix and solve linear systems.</a:t>
            </a:r>
            <a:endParaRPr/>
          </a:p>
        </p:txBody>
      </p:sp>
      <p:sp>
        <p:nvSpPr>
          <p:cNvPr id="236" name="Google Shape;236;p21"/>
          <p:cNvSpPr txBox="1"/>
          <p:nvPr/>
        </p:nvSpPr>
        <p:spPr>
          <a:xfrm>
            <a:off x="2190750" y="3686175"/>
            <a:ext cx="81915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B2B88"/>
                </a:solidFill>
                <a:latin typeface="DM Sans"/>
                <a:ea typeface="DM Sans"/>
                <a:cs typeface="DM Sans"/>
                <a:sym typeface="DM Sans"/>
              </a:rPr>
              <a:t>1. SWAP: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Interchange any two rows.</a:t>
            </a:r>
            <a:endParaRPr/>
          </a:p>
        </p:txBody>
      </p:sp>
      <p:sp>
        <p:nvSpPr>
          <p:cNvPr id="237" name="Google Shape;237;p21"/>
          <p:cNvSpPr txBox="1"/>
          <p:nvPr/>
        </p:nvSpPr>
        <p:spPr>
          <a:xfrm>
            <a:off x="2190750" y="4191000"/>
            <a:ext cx="81915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B2B88"/>
                </a:solidFill>
                <a:latin typeface="DM Sans"/>
                <a:ea typeface="DM Sans"/>
                <a:cs typeface="DM Sans"/>
                <a:sym typeface="DM Sans"/>
              </a:rPr>
              <a:t>2. SCALE: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Multiply one entire row by any non-zero number.</a:t>
            </a:r>
            <a:endParaRPr/>
          </a:p>
        </p:txBody>
      </p:sp>
      <p:sp>
        <p:nvSpPr>
          <p:cNvPr id="238" name="Google Shape;238;p21"/>
          <p:cNvSpPr txBox="1"/>
          <p:nvPr/>
        </p:nvSpPr>
        <p:spPr>
          <a:xfrm>
            <a:off x="2190750" y="4695825"/>
            <a:ext cx="81915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B2B88"/>
                </a:solidFill>
                <a:latin typeface="DM Sans"/>
                <a:ea typeface="DM Sans"/>
                <a:cs typeface="DM Sans"/>
                <a:sym typeface="DM Sans"/>
              </a:rPr>
              <a:t>3. ADD: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Add a multiple of one row to another row. (This is the workhorse!)</a:t>
            </a:r>
            <a:endParaRPr/>
          </a:p>
        </p:txBody>
      </p:sp>
      <p:pic>
        <p:nvPicPr>
          <p:cNvPr descr="image.png" id="239" name="Google Shape;23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733800"/>
            <a:ext cx="2381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4238625"/>
            <a:ext cx="2381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4743450"/>
            <a:ext cx="2381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1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B2B88"/>
                </a:solidFill>
                <a:latin typeface="Merriweather"/>
                <a:ea typeface="Merriweather"/>
                <a:cs typeface="Merriweather"/>
                <a:sym typeface="Merriweather"/>
              </a:rPr>
              <a:t>Elementary Row Operations (EROs)</a:t>
            </a:r>
            <a:endParaRPr/>
          </a:p>
        </p:txBody>
      </p:sp>
      <p:pic>
        <p:nvPicPr>
          <p:cNvPr id="243" name="Google Shape;243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033613" y="5295888"/>
            <a:ext cx="5457825" cy="128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8" name="Google Shape;24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2"/>
          <p:cNvSpPr txBox="1"/>
          <p:nvPr/>
        </p:nvSpPr>
        <p:spPr>
          <a:xfrm>
            <a:off x="1809750" y="1452375"/>
            <a:ext cx="8572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 "staircase" shape achieved using EROs. It follows these rules:</a:t>
            </a:r>
            <a:endParaRPr/>
          </a:p>
        </p:txBody>
      </p:sp>
      <p:sp>
        <p:nvSpPr>
          <p:cNvPr id="250" name="Google Shape;250;p22"/>
          <p:cNvSpPr txBox="1"/>
          <p:nvPr/>
        </p:nvSpPr>
        <p:spPr>
          <a:xfrm>
            <a:off x="2190750" y="2052450"/>
            <a:ext cx="8191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B2B88"/>
                </a:solidFill>
                <a:latin typeface="DM Sans"/>
                <a:ea typeface="DM Sans"/>
                <a:cs typeface="DM Sans"/>
                <a:sym typeface="DM Sans"/>
              </a:rPr>
              <a:t>Rule 1: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All-zero rows (if any) are at the very bottom.</a:t>
            </a:r>
            <a:endParaRPr/>
          </a:p>
        </p:txBody>
      </p:sp>
      <p:sp>
        <p:nvSpPr>
          <p:cNvPr id="251" name="Google Shape;251;p22"/>
          <p:cNvSpPr txBox="1"/>
          <p:nvPr/>
        </p:nvSpPr>
        <p:spPr>
          <a:xfrm>
            <a:off x="2190750" y="2557275"/>
            <a:ext cx="81915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B2B88"/>
                </a:solidFill>
                <a:latin typeface="DM Sans"/>
                <a:ea typeface="DM Sans"/>
                <a:cs typeface="DM Sans"/>
                <a:sym typeface="DM Sans"/>
              </a:rPr>
              <a:t>Rule 2: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The first non-zero number in any row (called a "pivot") is to the </a:t>
            </a:r>
            <a:r>
              <a:rPr b="1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right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of the pivot in the row above it.</a:t>
            </a:r>
            <a:endParaRPr/>
          </a:p>
        </p:txBody>
      </p:sp>
      <p:sp>
        <p:nvSpPr>
          <p:cNvPr id="252" name="Google Shape;252;p22"/>
          <p:cNvSpPr txBox="1"/>
          <p:nvPr/>
        </p:nvSpPr>
        <p:spPr>
          <a:xfrm>
            <a:off x="2190750" y="3376425"/>
            <a:ext cx="8191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B2B88"/>
                </a:solidFill>
                <a:latin typeface="DM Sans"/>
                <a:ea typeface="DM Sans"/>
                <a:cs typeface="DM Sans"/>
                <a:sym typeface="DM Sans"/>
              </a:rPr>
              <a:t>Rule 3: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All entries in a column </a:t>
            </a:r>
            <a:r>
              <a:rPr b="1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below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a pivot must be zeros.</a:t>
            </a:r>
            <a:endParaRPr/>
          </a:p>
        </p:txBody>
      </p:sp>
      <p:pic>
        <p:nvPicPr>
          <p:cNvPr descr="image.png" id="253" name="Google Shape;25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2100075"/>
            <a:ext cx="2381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4" name="Google Shape;254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2604900"/>
            <a:ext cx="2381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5" name="Google Shape;255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3424050"/>
            <a:ext cx="2381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2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B2B88"/>
                </a:solidFill>
                <a:latin typeface="Merriweather"/>
                <a:ea typeface="Merriweather"/>
                <a:cs typeface="Merriweather"/>
                <a:sym typeface="Merriweather"/>
              </a:rPr>
              <a:t>Row Echelon Form (REF)</a:t>
            </a:r>
            <a:endParaRPr/>
          </a:p>
        </p:txBody>
      </p:sp>
      <p:pic>
        <p:nvPicPr>
          <p:cNvPr id="257" name="Google Shape;257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250263" y="4370875"/>
            <a:ext cx="2676525" cy="188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2" name="Google Shape;26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3"/>
          <p:cNvSpPr txBox="1"/>
          <p:nvPr/>
        </p:nvSpPr>
        <p:spPr>
          <a:xfrm>
            <a:off x="1809750" y="1684375"/>
            <a:ext cx="8572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 "stricter" and fully simplified version of REF. It adds two more rules:</a:t>
            </a:r>
            <a:endParaRPr/>
          </a:p>
        </p:txBody>
      </p:sp>
      <p:sp>
        <p:nvSpPr>
          <p:cNvPr id="264" name="Google Shape;264;p23"/>
          <p:cNvSpPr txBox="1"/>
          <p:nvPr/>
        </p:nvSpPr>
        <p:spPr>
          <a:xfrm>
            <a:off x="2189481" y="2280322"/>
            <a:ext cx="8191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2B2B88"/>
                </a:solidFill>
                <a:latin typeface="DM Sans"/>
                <a:ea typeface="DM Sans"/>
                <a:cs typeface="DM Sans"/>
                <a:sym typeface="DM Sans"/>
              </a:rPr>
              <a:t>In addition to REF </a:t>
            </a:r>
            <a:r>
              <a:rPr lang="en-US" sz="165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endParaRPr/>
          </a:p>
        </p:txBody>
      </p:sp>
      <p:sp>
        <p:nvSpPr>
          <p:cNvPr id="265" name="Google Shape;265;p23"/>
          <p:cNvSpPr txBox="1"/>
          <p:nvPr/>
        </p:nvSpPr>
        <p:spPr>
          <a:xfrm>
            <a:off x="2190750" y="2789275"/>
            <a:ext cx="8191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B2B88"/>
                </a:solidFill>
                <a:latin typeface="DM Sans"/>
                <a:ea typeface="DM Sans"/>
                <a:cs typeface="DM Sans"/>
                <a:sym typeface="DM Sans"/>
              </a:rPr>
              <a:t>Rule </a:t>
            </a:r>
            <a:r>
              <a:rPr b="1" lang="en-US" sz="1650">
                <a:solidFill>
                  <a:srgbClr val="2B2B88"/>
                </a:solidFill>
                <a:latin typeface="DM Sans"/>
                <a:ea typeface="DM Sans"/>
                <a:cs typeface="DM Sans"/>
                <a:sym typeface="DM Sans"/>
              </a:rPr>
              <a:t>1</a:t>
            </a:r>
            <a:r>
              <a:rPr b="1" i="0" lang="en-US" sz="1650" u="none" cap="none" strike="noStrike">
                <a:solidFill>
                  <a:srgbClr val="2B2B88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Every pivot (leading entry) must be a </a:t>
            </a:r>
            <a:r>
              <a:rPr b="1" i="0" lang="en-US" sz="1650" u="none" cap="none" strike="noStrike">
                <a:solidFill>
                  <a:srgbClr val="2B2B88"/>
                </a:solidFill>
                <a:latin typeface="DM Sans"/>
                <a:ea typeface="DM Sans"/>
                <a:cs typeface="DM Sans"/>
                <a:sym typeface="DM Sans"/>
              </a:rPr>
              <a:t>1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id="266" name="Google Shape;266;p23"/>
          <p:cNvSpPr txBox="1"/>
          <p:nvPr/>
        </p:nvSpPr>
        <p:spPr>
          <a:xfrm>
            <a:off x="2190750" y="3294100"/>
            <a:ext cx="81915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B2B88"/>
                </a:solidFill>
                <a:latin typeface="DM Sans"/>
                <a:ea typeface="DM Sans"/>
                <a:cs typeface="DM Sans"/>
                <a:sym typeface="DM Sans"/>
              </a:rPr>
              <a:t>Rule </a:t>
            </a:r>
            <a:r>
              <a:rPr b="1" lang="en-US" sz="1650">
                <a:solidFill>
                  <a:srgbClr val="2B2B88"/>
                </a:solidFill>
                <a:latin typeface="DM Sans"/>
                <a:ea typeface="DM Sans"/>
                <a:cs typeface="DM Sans"/>
                <a:sym typeface="DM Sans"/>
              </a:rPr>
              <a:t>2</a:t>
            </a:r>
            <a:r>
              <a:rPr b="1" i="0" lang="en-US" sz="1650" u="none" cap="none" strike="noStrike">
                <a:solidFill>
                  <a:srgbClr val="2B2B88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The pivot is the </a:t>
            </a:r>
            <a:r>
              <a:rPr b="1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only non-zero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entry in its entire column (all numbers *above* and *below* it are zero).</a:t>
            </a:r>
            <a:endParaRPr/>
          </a:p>
        </p:txBody>
      </p:sp>
      <p:pic>
        <p:nvPicPr>
          <p:cNvPr descr="image.png" id="267" name="Google Shape;26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2332075"/>
            <a:ext cx="2381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8" name="Google Shape;268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2836900"/>
            <a:ext cx="2381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9" name="Google Shape;269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3341725"/>
            <a:ext cx="2381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3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B2B88"/>
                </a:solidFill>
                <a:latin typeface="Merriweather"/>
                <a:ea typeface="Merriweather"/>
                <a:cs typeface="Merriweather"/>
                <a:sym typeface="Merriweather"/>
              </a:rPr>
              <a:t>Reduced Row Echelon Form (RREF)</a:t>
            </a:r>
            <a:endParaRPr/>
          </a:p>
        </p:txBody>
      </p:sp>
      <p:pic>
        <p:nvPicPr>
          <p:cNvPr id="271" name="Google Shape;271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311025" y="4318488"/>
            <a:ext cx="2781300" cy="199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6" name="Google Shape;27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4"/>
          <p:cNvSpPr txBox="1"/>
          <p:nvPr/>
        </p:nvSpPr>
        <p:spPr>
          <a:xfrm>
            <a:off x="571500" y="3309937"/>
            <a:ext cx="52863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2B2B88"/>
                </a:solidFill>
                <a:latin typeface="Merriweather"/>
                <a:ea typeface="Merriweather"/>
                <a:cs typeface="Merriweather"/>
                <a:sym typeface="Merriweather"/>
              </a:rPr>
              <a:t>Rank</a:t>
            </a:r>
            <a:endParaRPr/>
          </a:p>
        </p:txBody>
      </p:sp>
      <p:sp>
        <p:nvSpPr>
          <p:cNvPr id="278" name="Google Shape;278;p24"/>
          <p:cNvSpPr txBox="1"/>
          <p:nvPr/>
        </p:nvSpPr>
        <p:spPr>
          <a:xfrm>
            <a:off x="6619875" y="2347912"/>
            <a:ext cx="5250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B2B88"/>
                </a:solidFill>
                <a:latin typeface="Merriweather"/>
                <a:ea typeface="Merriweather"/>
                <a:cs typeface="Merriweather"/>
                <a:sym typeface="Merriweather"/>
              </a:rPr>
              <a:t>What is Rank?</a:t>
            </a:r>
            <a:endParaRPr/>
          </a:p>
        </p:txBody>
      </p:sp>
      <p:sp>
        <p:nvSpPr>
          <p:cNvPr id="279" name="Google Shape;279;p24"/>
          <p:cNvSpPr txBox="1"/>
          <p:nvPr/>
        </p:nvSpPr>
        <p:spPr>
          <a:xfrm>
            <a:off x="6619875" y="2900362"/>
            <a:ext cx="50007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The rank is simply the number of </a:t>
            </a:r>
            <a:r>
              <a:rPr b="1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non-zero rows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after you have put the matrix into </a:t>
            </a:r>
            <a:r>
              <a:rPr b="1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REF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or </a:t>
            </a:r>
            <a:r>
              <a:rPr b="1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RREF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id="280" name="Google Shape;280;p24"/>
          <p:cNvSpPr txBox="1"/>
          <p:nvPr/>
        </p:nvSpPr>
        <p:spPr>
          <a:xfrm>
            <a:off x="6619875" y="3738562"/>
            <a:ext cx="5000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(It is also the number of </a:t>
            </a:r>
            <a:r>
              <a:rPr b="1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"pivot"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columns).</a:t>
            </a:r>
            <a:endParaRPr/>
          </a:p>
        </p:txBody>
      </p:sp>
      <p:sp>
        <p:nvSpPr>
          <p:cNvPr id="281" name="Google Shape;281;p24"/>
          <p:cNvSpPr txBox="1"/>
          <p:nvPr/>
        </p:nvSpPr>
        <p:spPr>
          <a:xfrm>
            <a:off x="6619875" y="4262437"/>
            <a:ext cx="5000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The rank is a </a:t>
            </a:r>
            <a:r>
              <a:rPr b="1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fundamental property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of a matrix and tells you everything about the solution to a linear system.</a:t>
            </a:r>
            <a:endParaRPr/>
          </a:p>
        </p:txBody>
      </p:sp>
      <p:sp>
        <p:nvSpPr>
          <p:cNvPr id="282" name="Google Shape;282;p24"/>
          <p:cNvSpPr txBox="1"/>
          <p:nvPr/>
        </p:nvSpPr>
        <p:spPr>
          <a:xfrm>
            <a:off x="571500" y="571500"/>
            <a:ext cx="11601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B2B88"/>
                </a:solidFill>
                <a:latin typeface="Merriweather"/>
                <a:ea typeface="Merriweather"/>
                <a:cs typeface="Merriweather"/>
                <a:sym typeface="Merriweather"/>
              </a:rPr>
              <a:t>Rank of a Matrix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7" name="Google Shape;28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8" name="Google Shape;28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90725"/>
            <a:ext cx="3429000" cy="3781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9" name="Google Shape;289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1990725"/>
            <a:ext cx="3429000" cy="3781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0" name="Google Shape;290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0" y="1990725"/>
            <a:ext cx="3429000" cy="3781425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5"/>
          <p:cNvSpPr txBox="1"/>
          <p:nvPr/>
        </p:nvSpPr>
        <p:spPr>
          <a:xfrm>
            <a:off x="1850945" y="3000375"/>
            <a:ext cx="870108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B78A2D"/>
                </a:solidFill>
                <a:latin typeface="Merriweather"/>
                <a:ea typeface="Merriweather"/>
                <a:cs typeface="Merriweather"/>
                <a:sym typeface="Merriweather"/>
              </a:rPr>
              <a:t>Minor</a:t>
            </a:r>
            <a:endParaRPr/>
          </a:p>
        </p:txBody>
      </p:sp>
      <p:sp>
        <p:nvSpPr>
          <p:cNvPr id="292" name="Google Shape;292;p25"/>
          <p:cNvSpPr txBox="1"/>
          <p:nvPr/>
        </p:nvSpPr>
        <p:spPr>
          <a:xfrm>
            <a:off x="866775" y="3695700"/>
            <a:ext cx="283845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The determinant of the small matrix that's left after you delete one row and one column.</a:t>
            </a:r>
            <a:endParaRPr/>
          </a:p>
        </p:txBody>
      </p:sp>
      <p:sp>
        <p:nvSpPr>
          <p:cNvPr id="293" name="Google Shape;293;p25"/>
          <p:cNvSpPr txBox="1"/>
          <p:nvPr/>
        </p:nvSpPr>
        <p:spPr>
          <a:xfrm>
            <a:off x="5510926" y="3000375"/>
            <a:ext cx="117014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B78A2D"/>
                </a:solidFill>
                <a:latin typeface="Merriweather"/>
                <a:ea typeface="Merriweather"/>
                <a:cs typeface="Merriweather"/>
                <a:sym typeface="Merriweather"/>
              </a:rPr>
              <a:t>Cofactor</a:t>
            </a:r>
            <a:endParaRPr/>
          </a:p>
        </p:txBody>
      </p:sp>
      <p:sp>
        <p:nvSpPr>
          <p:cNvPr id="294" name="Google Shape;294;p25"/>
          <p:cNvSpPr txBox="1"/>
          <p:nvPr/>
        </p:nvSpPr>
        <p:spPr>
          <a:xfrm>
            <a:off x="4676775" y="3695700"/>
            <a:ext cx="283845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The "signed" minor. You multiply the minor by +1 or -1 based on a "checkerboard" pattern (+, -, +, ...).</a:t>
            </a:r>
            <a:endParaRPr/>
          </a:p>
        </p:txBody>
      </p:sp>
      <p:sp>
        <p:nvSpPr>
          <p:cNvPr id="295" name="Google Shape;295;p25"/>
          <p:cNvSpPr txBox="1"/>
          <p:nvPr/>
        </p:nvSpPr>
        <p:spPr>
          <a:xfrm>
            <a:off x="9015888" y="3000375"/>
            <a:ext cx="178022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B78A2D"/>
                </a:solidFill>
                <a:latin typeface="Merriweather"/>
                <a:ea typeface="Merriweather"/>
                <a:cs typeface="Merriweather"/>
                <a:sym typeface="Merriweather"/>
              </a:rPr>
              <a:t>Determinant</a:t>
            </a:r>
            <a:endParaRPr/>
          </a:p>
        </p:txBody>
      </p:sp>
      <p:sp>
        <p:nvSpPr>
          <p:cNvPr id="296" name="Google Shape;296;p25"/>
          <p:cNvSpPr txBox="1"/>
          <p:nvPr/>
        </p:nvSpPr>
        <p:spPr>
          <a:xfrm>
            <a:off x="8486775" y="3695700"/>
            <a:ext cx="2838450" cy="157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 single number (det(A)) that describes the matrix. Found by summing the products of elements in one row by their cofactors.</a:t>
            </a:r>
            <a:endParaRPr/>
          </a:p>
        </p:txBody>
      </p:sp>
      <p:pic>
        <p:nvPicPr>
          <p:cNvPr descr="image.png" id="297" name="Google Shape;297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00250" y="2305050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8" name="Google Shape;298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24550" y="2305050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9" name="Google Shape;299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734550" y="2305050"/>
            <a:ext cx="3429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5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B2B88"/>
                </a:solidFill>
                <a:latin typeface="Merriweather"/>
                <a:ea typeface="Merriweather"/>
                <a:cs typeface="Merriweather"/>
                <a:sym typeface="Merriweather"/>
              </a:rPr>
              <a:t>Minor, Cofactor, Determinant</a:t>
            </a:r>
            <a:endParaRPr/>
          </a:p>
        </p:txBody>
      </p:sp>
      <p:pic>
        <p:nvPicPr>
          <p:cNvPr id="301" name="Google Shape;301;p2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252913" y="316688"/>
            <a:ext cx="2543175" cy="132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6"/>
          <p:cNvSpPr txBox="1"/>
          <p:nvPr/>
        </p:nvSpPr>
        <p:spPr>
          <a:xfrm>
            <a:off x="571500" y="1397925"/>
            <a:ext cx="10729200" cy="43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>
                <a:solidFill>
                  <a:schemeClr val="dk1"/>
                </a:solidFill>
              </a:rPr>
              <a:t>Like finding avg of the numbers in matrix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Char char="●"/>
            </a:pPr>
            <a:r>
              <a:rPr lang="en-US" sz="2800">
                <a:solidFill>
                  <a:srgbClr val="FF0000"/>
                </a:solidFill>
              </a:rPr>
              <a:t>Only defined for square matrix ( no. of rows = no. of cols)</a:t>
            </a:r>
            <a:endParaRPr sz="2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>
                <a:solidFill>
                  <a:schemeClr val="dk1"/>
                </a:solidFill>
              </a:rPr>
              <a:t>Steps to find determinants:</a:t>
            </a:r>
            <a:endParaRPr sz="2800">
              <a:solidFill>
                <a:schemeClr val="dk1"/>
              </a:solidFill>
            </a:endParaRPr>
          </a:p>
          <a:p>
            <a:pPr indent="0" lvl="0" marL="4699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• Find minors for 1</a:t>
            </a:r>
            <a:r>
              <a:rPr baseline="30000" lang="en-US" sz="4000">
                <a:solidFill>
                  <a:schemeClr val="dk1"/>
                </a:solidFill>
              </a:rPr>
              <a:t>st</a:t>
            </a:r>
            <a:r>
              <a:rPr lang="en-US" sz="2400">
                <a:solidFill>
                  <a:schemeClr val="dk1"/>
                </a:solidFill>
              </a:rPr>
              <a:t> row element</a:t>
            </a:r>
            <a:endParaRPr sz="2400">
              <a:solidFill>
                <a:schemeClr val="dk1"/>
              </a:solidFill>
            </a:endParaRPr>
          </a:p>
          <a:p>
            <a:pPr indent="0" lvl="0" marL="4699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• Find cofactor for them</a:t>
            </a:r>
            <a:endParaRPr sz="2400">
              <a:solidFill>
                <a:schemeClr val="dk1"/>
              </a:solidFill>
            </a:endParaRPr>
          </a:p>
          <a:p>
            <a:pPr indent="0" lvl="0" marL="4699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• Add them together to get determinant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rgbClr val="33333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07" name="Google Shape;307;p26"/>
          <p:cNvSpPr txBox="1"/>
          <p:nvPr/>
        </p:nvSpPr>
        <p:spPr>
          <a:xfrm>
            <a:off x="571500" y="571500"/>
            <a:ext cx="11601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2B2B88"/>
                </a:solidFill>
                <a:latin typeface="Merriweather"/>
                <a:ea typeface="Merriweather"/>
                <a:cs typeface="Merriweather"/>
                <a:sym typeface="Merriweather"/>
              </a:rPr>
              <a:t>Determinant </a:t>
            </a:r>
            <a:r>
              <a:rPr b="1" i="0" lang="en-US" sz="3300" u="none" cap="none" strike="noStrike">
                <a:solidFill>
                  <a:srgbClr val="2B2B88"/>
                </a:solidFill>
                <a:latin typeface="Merriweather"/>
                <a:ea typeface="Merriweather"/>
                <a:cs typeface="Merriweather"/>
                <a:sym typeface="Merriweather"/>
              </a:rPr>
              <a:t>of a Matrix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2" name="Google Shape;31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3" name="Google Shape;313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84870"/>
            <a:ext cx="5286375" cy="45931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4" name="Google Shape;314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584870"/>
            <a:ext cx="5286375" cy="4593133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7"/>
          <p:cNvSpPr txBox="1"/>
          <p:nvPr/>
        </p:nvSpPr>
        <p:spPr>
          <a:xfrm>
            <a:off x="962025" y="1975395"/>
            <a:ext cx="473059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B78A2D"/>
                </a:solidFill>
                <a:latin typeface="Merriweather"/>
                <a:ea typeface="Merriweather"/>
                <a:cs typeface="Merriweather"/>
                <a:sym typeface="Merriweather"/>
              </a:rPr>
              <a:t>Adjoint: adj(A)</a:t>
            </a:r>
            <a:endParaRPr/>
          </a:p>
        </p:txBody>
      </p:sp>
      <p:sp>
        <p:nvSpPr>
          <p:cNvPr id="316" name="Google Shape;316;p27"/>
          <p:cNvSpPr txBox="1"/>
          <p:nvPr/>
        </p:nvSpPr>
        <p:spPr>
          <a:xfrm>
            <a:off x="962025" y="2527845"/>
            <a:ext cx="45053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The adjoint is a "helper" matrix used to find the inverse.</a:t>
            </a:r>
            <a:endParaRPr/>
          </a:p>
        </p:txBody>
      </p:sp>
      <p:sp>
        <p:nvSpPr>
          <p:cNvPr id="317" name="Google Shape;317;p27"/>
          <p:cNvSpPr txBox="1"/>
          <p:nvPr/>
        </p:nvSpPr>
        <p:spPr>
          <a:xfrm>
            <a:off x="6724650" y="1975395"/>
            <a:ext cx="4730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B78A2D"/>
                </a:solidFill>
                <a:latin typeface="Merriweather"/>
                <a:ea typeface="Merriweather"/>
                <a:cs typeface="Merriweather"/>
                <a:sym typeface="Merriweather"/>
              </a:rPr>
              <a:t>Inverse:    A </a:t>
            </a:r>
            <a:r>
              <a:rPr b="1" baseline="30000" i="0" lang="en-US" sz="2100" u="none" cap="none" strike="noStrike">
                <a:solidFill>
                  <a:srgbClr val="B78A2D"/>
                </a:solidFill>
                <a:latin typeface="Merriweather"/>
                <a:ea typeface="Merriweather"/>
                <a:cs typeface="Merriweather"/>
                <a:sym typeface="Merriweather"/>
              </a:rPr>
              <a:t>-   1</a:t>
            </a:r>
            <a:r>
              <a:rPr b="1" i="0" lang="en-US" sz="2100" u="none" cap="none" strike="noStrike">
                <a:solidFill>
                  <a:srgbClr val="B78A2D"/>
                </a:solidFill>
                <a:latin typeface="Merriweather"/>
                <a:ea typeface="Merriweather"/>
                <a:cs typeface="Merriweather"/>
                <a:sym typeface="Merriweather"/>
              </a:rPr>
              <a:t>    </a:t>
            </a:r>
            <a:endParaRPr/>
          </a:p>
        </p:txBody>
      </p:sp>
      <p:sp>
        <p:nvSpPr>
          <p:cNvPr id="318" name="Google Shape;318;p27"/>
          <p:cNvSpPr txBox="1"/>
          <p:nvPr/>
        </p:nvSpPr>
        <p:spPr>
          <a:xfrm>
            <a:off x="6724613" y="2348757"/>
            <a:ext cx="45054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The matrix that "undoes" A.     </a:t>
            </a:r>
            <a:endParaRPr b="0" i="0" sz="1650" u="none" cap="none" strike="noStrike">
              <a:solidFill>
                <a:srgbClr val="333333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   A</a:t>
            </a:r>
            <a:r>
              <a:rPr b="0" baseline="3000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 -   1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    =   </a:t>
            </a:r>
            <a:r>
              <a:rPr lang="en-US" sz="165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I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(identity matrix)   </a:t>
            </a:r>
            <a:endParaRPr/>
          </a:p>
        </p:txBody>
      </p:sp>
      <p:sp>
        <p:nvSpPr>
          <p:cNvPr id="319" name="Google Shape;319;p27"/>
          <p:cNvSpPr txBox="1"/>
          <p:nvPr/>
        </p:nvSpPr>
        <p:spPr>
          <a:xfrm>
            <a:off x="6724650" y="3096517"/>
            <a:ext cx="45053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Formula:</a:t>
            </a:r>
            <a:endParaRPr/>
          </a:p>
        </p:txBody>
      </p:sp>
      <p:sp>
        <p:nvSpPr>
          <p:cNvPr id="320" name="Google Shape;320;p27"/>
          <p:cNvSpPr txBox="1"/>
          <p:nvPr/>
        </p:nvSpPr>
        <p:spPr>
          <a:xfrm>
            <a:off x="6724650" y="4949279"/>
            <a:ext cx="45053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IMPORTANT: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If det(A) = 0, the inverse does </a:t>
            </a:r>
            <a:r>
              <a:rPr b="1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not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exist!</a:t>
            </a:r>
            <a:endParaRPr/>
          </a:p>
        </p:txBody>
      </p:sp>
      <p:sp>
        <p:nvSpPr>
          <p:cNvPr id="321" name="Google Shape;321;p27"/>
          <p:cNvSpPr txBox="1"/>
          <p:nvPr/>
        </p:nvSpPr>
        <p:spPr>
          <a:xfrm>
            <a:off x="1247775" y="3366045"/>
            <a:ext cx="42195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1. Create a new matrix filled with all the cofactors (C).</a:t>
            </a:r>
            <a:endParaRPr/>
          </a:p>
        </p:txBody>
      </p:sp>
      <p:sp>
        <p:nvSpPr>
          <p:cNvPr id="322" name="Google Shape;322;p27"/>
          <p:cNvSpPr txBox="1"/>
          <p:nvPr/>
        </p:nvSpPr>
        <p:spPr>
          <a:xfrm>
            <a:off x="1247775" y="4137570"/>
            <a:ext cx="42195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2. Take the </a:t>
            </a:r>
            <a:r>
              <a:rPr b="1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transpose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of that cofactor matrix.</a:t>
            </a:r>
            <a:endParaRPr/>
          </a:p>
        </p:txBody>
      </p:sp>
      <p:sp>
        <p:nvSpPr>
          <p:cNvPr id="323" name="Google Shape;323;p27"/>
          <p:cNvSpPr txBox="1"/>
          <p:nvPr/>
        </p:nvSpPr>
        <p:spPr>
          <a:xfrm>
            <a:off x="1247775" y="4909095"/>
            <a:ext cx="4219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adj(A) =    C </a:t>
            </a:r>
            <a:r>
              <a:rPr b="1" baseline="30000" i="0" lang="en-US" sz="165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</a:t>
            </a:r>
            <a:r>
              <a:rPr b="1" i="0" lang="en-US" sz="165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  </a:t>
            </a:r>
            <a:endParaRPr/>
          </a:p>
        </p:txBody>
      </p:sp>
      <p:sp>
        <p:nvSpPr>
          <p:cNvPr id="324" name="Google Shape;324;p27"/>
          <p:cNvSpPr txBox="1"/>
          <p:nvPr/>
        </p:nvSpPr>
        <p:spPr>
          <a:xfrm>
            <a:off x="962025" y="3366045"/>
            <a:ext cx="857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B2B88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325" name="Google Shape;325;p27"/>
          <p:cNvSpPr txBox="1"/>
          <p:nvPr/>
        </p:nvSpPr>
        <p:spPr>
          <a:xfrm>
            <a:off x="962025" y="4137570"/>
            <a:ext cx="857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B2B88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326" name="Google Shape;326;p27"/>
          <p:cNvSpPr txBox="1"/>
          <p:nvPr/>
        </p:nvSpPr>
        <p:spPr>
          <a:xfrm>
            <a:off x="962025" y="4909095"/>
            <a:ext cx="857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B2B88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327" name="Google Shape;327;p27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B2B88"/>
                </a:solidFill>
                <a:latin typeface="Merriweather"/>
                <a:ea typeface="Merriweather"/>
                <a:cs typeface="Merriweather"/>
                <a:sym typeface="Merriweather"/>
              </a:rPr>
              <a:t>Adjoint &amp; Inverse</a:t>
            </a:r>
            <a:endParaRPr/>
          </a:p>
        </p:txBody>
      </p:sp>
      <p:pic>
        <p:nvPicPr>
          <p:cNvPr id="328" name="Google Shape;328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91305" y="3440975"/>
            <a:ext cx="1634957" cy="146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2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849400" y="3523813"/>
            <a:ext cx="1828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2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749200" y="157163"/>
            <a:ext cx="1943100" cy="13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5" name="Google Shape;33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6" name="Google Shape;336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84870"/>
            <a:ext cx="5286375" cy="45931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7" name="Google Shape;337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584870"/>
            <a:ext cx="5286375" cy="4593133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28"/>
          <p:cNvSpPr txBox="1"/>
          <p:nvPr/>
        </p:nvSpPr>
        <p:spPr>
          <a:xfrm>
            <a:off x="962025" y="1975395"/>
            <a:ext cx="4730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B78A2D"/>
                </a:solidFill>
                <a:latin typeface="Merriweather"/>
                <a:ea typeface="Merriweather"/>
                <a:cs typeface="Merriweather"/>
                <a:sym typeface="Merriweather"/>
              </a:rPr>
              <a:t>Adjoint: adj(A)</a:t>
            </a:r>
            <a:endParaRPr/>
          </a:p>
        </p:txBody>
      </p:sp>
      <p:sp>
        <p:nvSpPr>
          <p:cNvPr id="339" name="Google Shape;339;p28"/>
          <p:cNvSpPr txBox="1"/>
          <p:nvPr/>
        </p:nvSpPr>
        <p:spPr>
          <a:xfrm>
            <a:off x="962025" y="2527845"/>
            <a:ext cx="45054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The adjoint is a "helper" matrix used to find the inverse.</a:t>
            </a:r>
            <a:endParaRPr/>
          </a:p>
        </p:txBody>
      </p:sp>
      <p:sp>
        <p:nvSpPr>
          <p:cNvPr id="340" name="Google Shape;340;p28"/>
          <p:cNvSpPr txBox="1"/>
          <p:nvPr/>
        </p:nvSpPr>
        <p:spPr>
          <a:xfrm>
            <a:off x="6724650" y="1975395"/>
            <a:ext cx="4730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B78A2D"/>
                </a:solidFill>
                <a:latin typeface="Merriweather"/>
                <a:ea typeface="Merriweather"/>
                <a:cs typeface="Merriweather"/>
                <a:sym typeface="Merriweather"/>
              </a:rPr>
              <a:t>Inverse:    A </a:t>
            </a:r>
            <a:r>
              <a:rPr b="1" baseline="30000" i="0" lang="en-US" sz="2100" u="none" cap="none" strike="noStrike">
                <a:solidFill>
                  <a:srgbClr val="B78A2D"/>
                </a:solidFill>
                <a:latin typeface="Merriweather"/>
                <a:ea typeface="Merriweather"/>
                <a:cs typeface="Merriweather"/>
                <a:sym typeface="Merriweather"/>
              </a:rPr>
              <a:t>-   1</a:t>
            </a:r>
            <a:r>
              <a:rPr b="1" i="0" lang="en-US" sz="2100" u="none" cap="none" strike="noStrike">
                <a:solidFill>
                  <a:srgbClr val="B78A2D"/>
                </a:solidFill>
                <a:latin typeface="Merriweather"/>
                <a:ea typeface="Merriweather"/>
                <a:cs typeface="Merriweather"/>
                <a:sym typeface="Merriweather"/>
              </a:rPr>
              <a:t>    </a:t>
            </a:r>
            <a:endParaRPr/>
          </a:p>
        </p:txBody>
      </p:sp>
      <p:sp>
        <p:nvSpPr>
          <p:cNvPr id="341" name="Google Shape;341;p28"/>
          <p:cNvSpPr txBox="1"/>
          <p:nvPr/>
        </p:nvSpPr>
        <p:spPr>
          <a:xfrm>
            <a:off x="6724613" y="2348757"/>
            <a:ext cx="45054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The matrix that "undoes" A.     </a:t>
            </a:r>
            <a:endParaRPr b="0" i="0" sz="1650" u="none" cap="none" strike="noStrike">
              <a:solidFill>
                <a:srgbClr val="333333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   A</a:t>
            </a:r>
            <a:r>
              <a:rPr b="0" baseline="3000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 -   1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    =   </a:t>
            </a:r>
            <a:r>
              <a:rPr lang="en-US" sz="165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I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(identity matrix)   </a:t>
            </a:r>
            <a:endParaRPr/>
          </a:p>
        </p:txBody>
      </p:sp>
      <p:sp>
        <p:nvSpPr>
          <p:cNvPr id="342" name="Google Shape;342;p28"/>
          <p:cNvSpPr txBox="1"/>
          <p:nvPr/>
        </p:nvSpPr>
        <p:spPr>
          <a:xfrm>
            <a:off x="6724650" y="3096517"/>
            <a:ext cx="4505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Formula:</a:t>
            </a:r>
            <a:endParaRPr/>
          </a:p>
        </p:txBody>
      </p:sp>
      <p:sp>
        <p:nvSpPr>
          <p:cNvPr id="343" name="Google Shape;343;p28"/>
          <p:cNvSpPr txBox="1"/>
          <p:nvPr/>
        </p:nvSpPr>
        <p:spPr>
          <a:xfrm>
            <a:off x="6724650" y="4949279"/>
            <a:ext cx="45054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IMPORTANT: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If det(A) = 0, the inverse does </a:t>
            </a:r>
            <a:r>
              <a:rPr b="1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not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exist!</a:t>
            </a:r>
            <a:endParaRPr/>
          </a:p>
        </p:txBody>
      </p:sp>
      <p:sp>
        <p:nvSpPr>
          <p:cNvPr id="344" name="Google Shape;344;p28"/>
          <p:cNvSpPr txBox="1"/>
          <p:nvPr/>
        </p:nvSpPr>
        <p:spPr>
          <a:xfrm>
            <a:off x="1247775" y="3366045"/>
            <a:ext cx="42195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1. Create a new matrix filled with all the cofactors (C).</a:t>
            </a:r>
            <a:endParaRPr/>
          </a:p>
        </p:txBody>
      </p:sp>
      <p:sp>
        <p:nvSpPr>
          <p:cNvPr id="345" name="Google Shape;345;p28"/>
          <p:cNvSpPr txBox="1"/>
          <p:nvPr/>
        </p:nvSpPr>
        <p:spPr>
          <a:xfrm>
            <a:off x="1247775" y="4137570"/>
            <a:ext cx="42195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2. Take the </a:t>
            </a:r>
            <a:r>
              <a:rPr b="1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transpose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of that cofactor matrix.</a:t>
            </a:r>
            <a:endParaRPr/>
          </a:p>
        </p:txBody>
      </p:sp>
      <p:sp>
        <p:nvSpPr>
          <p:cNvPr id="346" name="Google Shape;346;p28"/>
          <p:cNvSpPr txBox="1"/>
          <p:nvPr/>
        </p:nvSpPr>
        <p:spPr>
          <a:xfrm>
            <a:off x="1247775" y="4909095"/>
            <a:ext cx="4219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adj(A) =    C </a:t>
            </a:r>
            <a:r>
              <a:rPr b="1" baseline="30000" i="0" lang="en-US" sz="165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</a:t>
            </a:r>
            <a:r>
              <a:rPr b="1" i="0" lang="en-US" sz="165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  </a:t>
            </a:r>
            <a:endParaRPr/>
          </a:p>
        </p:txBody>
      </p:sp>
      <p:sp>
        <p:nvSpPr>
          <p:cNvPr id="347" name="Google Shape;347;p28"/>
          <p:cNvSpPr txBox="1"/>
          <p:nvPr/>
        </p:nvSpPr>
        <p:spPr>
          <a:xfrm>
            <a:off x="962025" y="3366045"/>
            <a:ext cx="85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B2B88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348" name="Google Shape;348;p28"/>
          <p:cNvSpPr txBox="1"/>
          <p:nvPr/>
        </p:nvSpPr>
        <p:spPr>
          <a:xfrm>
            <a:off x="962025" y="4137570"/>
            <a:ext cx="85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B2B88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349" name="Google Shape;349;p28"/>
          <p:cNvSpPr txBox="1"/>
          <p:nvPr/>
        </p:nvSpPr>
        <p:spPr>
          <a:xfrm>
            <a:off x="962025" y="4909095"/>
            <a:ext cx="85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B2B88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350" name="Google Shape;350;p28"/>
          <p:cNvSpPr txBox="1"/>
          <p:nvPr/>
        </p:nvSpPr>
        <p:spPr>
          <a:xfrm>
            <a:off x="571500" y="571500"/>
            <a:ext cx="11601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B2B88"/>
                </a:solidFill>
                <a:latin typeface="Merriweather"/>
                <a:ea typeface="Merriweather"/>
                <a:cs typeface="Merriweather"/>
                <a:sym typeface="Merriweather"/>
              </a:rPr>
              <a:t>Adjoint &amp; Inverse</a:t>
            </a:r>
            <a:endParaRPr/>
          </a:p>
        </p:txBody>
      </p:sp>
      <p:pic>
        <p:nvPicPr>
          <p:cNvPr id="351" name="Google Shape;351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91305" y="3440975"/>
            <a:ext cx="1634957" cy="146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2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849400" y="3523813"/>
            <a:ext cx="1828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2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749200" y="157163"/>
            <a:ext cx="1943100" cy="135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2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55175" y="143538"/>
            <a:ext cx="11681626" cy="657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9" name="Google Shape;35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0" name="Google Shape;360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43062"/>
            <a:ext cx="5286375" cy="447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1" name="Google Shape;361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643062"/>
            <a:ext cx="5286375" cy="447675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29"/>
          <p:cNvSpPr txBox="1"/>
          <p:nvPr/>
        </p:nvSpPr>
        <p:spPr>
          <a:xfrm>
            <a:off x="962025" y="2033587"/>
            <a:ext cx="4730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B78A2D"/>
                </a:solidFill>
                <a:latin typeface="Merriweather"/>
                <a:ea typeface="Merriweather"/>
                <a:cs typeface="Merriweather"/>
                <a:sym typeface="Merriweather"/>
              </a:rPr>
              <a:t>Gaussian Elimination</a:t>
            </a:r>
            <a:endParaRPr/>
          </a:p>
        </p:txBody>
      </p:sp>
      <p:sp>
        <p:nvSpPr>
          <p:cNvPr id="363" name="Google Shape;363;p29"/>
          <p:cNvSpPr txBox="1"/>
          <p:nvPr/>
        </p:nvSpPr>
        <p:spPr>
          <a:xfrm>
            <a:off x="962025" y="2586037"/>
            <a:ext cx="45054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The process of using EROs to get a matrix into </a:t>
            </a:r>
            <a:r>
              <a:rPr b="1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Row Echelon Form (REF)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id="364" name="Google Shape;364;p29"/>
          <p:cNvSpPr txBox="1"/>
          <p:nvPr/>
        </p:nvSpPr>
        <p:spPr>
          <a:xfrm>
            <a:off x="962025" y="3424237"/>
            <a:ext cx="4505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This leaves you with a "staircase" matrix. You then solve the system from the </a:t>
            </a:r>
            <a:r>
              <a:rPr b="1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bottom up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(this is called "back substitution").</a:t>
            </a:r>
            <a:endParaRPr/>
          </a:p>
        </p:txBody>
      </p:sp>
      <p:sp>
        <p:nvSpPr>
          <p:cNvPr id="365" name="Google Shape;365;p29"/>
          <p:cNvSpPr txBox="1"/>
          <p:nvPr/>
        </p:nvSpPr>
        <p:spPr>
          <a:xfrm>
            <a:off x="962025" y="4576762"/>
            <a:ext cx="4505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Goal: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Get an </a:t>
            </a:r>
            <a:r>
              <a:rPr b="1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Upper Triangular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matrix.</a:t>
            </a:r>
            <a:endParaRPr/>
          </a:p>
        </p:txBody>
      </p:sp>
      <p:sp>
        <p:nvSpPr>
          <p:cNvPr id="366" name="Google Shape;366;p29"/>
          <p:cNvSpPr txBox="1"/>
          <p:nvPr/>
        </p:nvSpPr>
        <p:spPr>
          <a:xfrm>
            <a:off x="6724650" y="2033587"/>
            <a:ext cx="4730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B78A2D"/>
                </a:solidFill>
                <a:latin typeface="Merriweather"/>
                <a:ea typeface="Merriweather"/>
                <a:cs typeface="Merriweather"/>
                <a:sym typeface="Merriweather"/>
              </a:rPr>
              <a:t>Gauss-Jordan Elimination</a:t>
            </a:r>
            <a:endParaRPr/>
          </a:p>
        </p:txBody>
      </p:sp>
      <p:sp>
        <p:nvSpPr>
          <p:cNvPr id="367" name="Google Shape;367;p29"/>
          <p:cNvSpPr txBox="1"/>
          <p:nvPr/>
        </p:nvSpPr>
        <p:spPr>
          <a:xfrm>
            <a:off x="6724650" y="2586037"/>
            <a:ext cx="4505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The process of using EROs to get a matrix all the way to </a:t>
            </a:r>
            <a:r>
              <a:rPr b="1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Reduced Row Echelon Form (RREF)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id="368" name="Google Shape;368;p29"/>
          <p:cNvSpPr txBox="1"/>
          <p:nvPr/>
        </p:nvSpPr>
        <p:spPr>
          <a:xfrm>
            <a:off x="6724650" y="3738562"/>
            <a:ext cx="4505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This is more work, but the final answer can be </a:t>
            </a:r>
            <a:r>
              <a:rPr b="1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read directly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from the matrix. No substitution is needed.</a:t>
            </a:r>
            <a:endParaRPr/>
          </a:p>
        </p:txBody>
      </p:sp>
      <p:sp>
        <p:nvSpPr>
          <p:cNvPr id="369" name="Google Shape;369;p29"/>
          <p:cNvSpPr txBox="1"/>
          <p:nvPr/>
        </p:nvSpPr>
        <p:spPr>
          <a:xfrm>
            <a:off x="6724650" y="4891087"/>
            <a:ext cx="45054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Goal: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Get the </a:t>
            </a:r>
            <a:r>
              <a:rPr b="1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Identity Matrix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(or as close as possible).</a:t>
            </a:r>
            <a:endParaRPr/>
          </a:p>
        </p:txBody>
      </p:sp>
      <p:sp>
        <p:nvSpPr>
          <p:cNvPr id="370" name="Google Shape;370;p29"/>
          <p:cNvSpPr txBox="1"/>
          <p:nvPr/>
        </p:nvSpPr>
        <p:spPr>
          <a:xfrm>
            <a:off x="571500" y="571500"/>
            <a:ext cx="11601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B2B88"/>
                </a:solidFill>
                <a:latin typeface="Merriweather"/>
                <a:ea typeface="Merriweather"/>
                <a:cs typeface="Merriweather"/>
                <a:sym typeface="Merriweather"/>
              </a:rPr>
              <a:t>Gaussian vs. Gauss-Jordan Elimination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5" name="Google Shape;37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6" name="Google Shape;376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252537"/>
            <a:ext cx="5286375" cy="5257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7" name="Google Shape;377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252537"/>
            <a:ext cx="5286375" cy="5257800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0"/>
          <p:cNvSpPr txBox="1"/>
          <p:nvPr/>
        </p:nvSpPr>
        <p:spPr>
          <a:xfrm>
            <a:off x="962025" y="1643062"/>
            <a:ext cx="4730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B78A2D"/>
                </a:solidFill>
                <a:latin typeface="Merriweather"/>
                <a:ea typeface="Merriweather"/>
                <a:cs typeface="Merriweather"/>
                <a:sym typeface="Merriweather"/>
              </a:rPr>
              <a:t>The Setup</a:t>
            </a:r>
            <a:endParaRPr/>
          </a:p>
        </p:txBody>
      </p:sp>
      <p:sp>
        <p:nvSpPr>
          <p:cNvPr id="379" name="Google Shape;379;p30"/>
          <p:cNvSpPr txBox="1"/>
          <p:nvPr/>
        </p:nvSpPr>
        <p:spPr>
          <a:xfrm>
            <a:off x="962025" y="2195512"/>
            <a:ext cx="4505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 "system of linear equations" is the core problem of linear algebra. We use matrices to solve it.</a:t>
            </a:r>
            <a:endParaRPr/>
          </a:p>
        </p:txBody>
      </p:sp>
      <p:sp>
        <p:nvSpPr>
          <p:cNvPr id="380" name="Google Shape;380;p30"/>
          <p:cNvSpPr txBox="1"/>
          <p:nvPr/>
        </p:nvSpPr>
        <p:spPr>
          <a:xfrm>
            <a:off x="6724650" y="1643062"/>
            <a:ext cx="4730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B78A2D"/>
                </a:solidFill>
                <a:latin typeface="Merriweather"/>
                <a:ea typeface="Merriweather"/>
                <a:cs typeface="Merriweather"/>
                <a:sym typeface="Merriweather"/>
              </a:rPr>
              <a:t>The Augmented Matrix</a:t>
            </a:r>
            <a:endParaRPr/>
          </a:p>
        </p:txBody>
      </p:sp>
      <p:sp>
        <p:nvSpPr>
          <p:cNvPr id="381" name="Google Shape;381;p30"/>
          <p:cNvSpPr txBox="1"/>
          <p:nvPr/>
        </p:nvSpPr>
        <p:spPr>
          <a:xfrm>
            <a:off x="6724650" y="2195512"/>
            <a:ext cx="45054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To solve, we combine A and b into one "augmented matrix".</a:t>
            </a:r>
            <a:endParaRPr/>
          </a:p>
        </p:txBody>
      </p:sp>
      <p:sp>
        <p:nvSpPr>
          <p:cNvPr id="382" name="Google Shape;382;p30"/>
          <p:cNvSpPr txBox="1"/>
          <p:nvPr/>
        </p:nvSpPr>
        <p:spPr>
          <a:xfrm>
            <a:off x="6724650" y="3037433"/>
            <a:ext cx="45054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79" u="none" cap="none" strike="noStrike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[ A | b ]</a:t>
            </a:r>
            <a:endParaRPr/>
          </a:p>
        </p:txBody>
      </p:sp>
      <p:sp>
        <p:nvSpPr>
          <p:cNvPr id="383" name="Google Shape;383;p30"/>
          <p:cNvSpPr txBox="1"/>
          <p:nvPr/>
        </p:nvSpPr>
        <p:spPr>
          <a:xfrm>
            <a:off x="6724650" y="3570833"/>
            <a:ext cx="45054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We then perform row operations on this single matrix to find the solution for </a:t>
            </a:r>
            <a:r>
              <a:rPr b="1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x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id="384" name="Google Shape;384;p30"/>
          <p:cNvSpPr txBox="1"/>
          <p:nvPr/>
        </p:nvSpPr>
        <p:spPr>
          <a:xfrm>
            <a:off x="6724650" y="4409033"/>
            <a:ext cx="45054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If </a:t>
            </a:r>
            <a:r>
              <a:rPr b="1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b = 0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(all zeros), it's a </a:t>
            </a:r>
            <a:r>
              <a:rPr b="1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Homogeneous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system.</a:t>
            </a:r>
            <a:endParaRPr/>
          </a:p>
        </p:txBody>
      </p:sp>
      <p:sp>
        <p:nvSpPr>
          <p:cNvPr id="385" name="Google Shape;385;p30"/>
          <p:cNvSpPr txBox="1"/>
          <p:nvPr/>
        </p:nvSpPr>
        <p:spPr>
          <a:xfrm>
            <a:off x="1247775" y="3348037"/>
            <a:ext cx="42195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Matrix Form: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We write the system as </a:t>
            </a:r>
            <a:r>
              <a:rPr b="1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Ax = b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id="386" name="Google Shape;386;p30"/>
          <p:cNvSpPr txBox="1"/>
          <p:nvPr/>
        </p:nvSpPr>
        <p:spPr>
          <a:xfrm>
            <a:off x="1247775" y="4119562"/>
            <a:ext cx="42195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The coefficient matrix (all the numbers next to the variables).</a:t>
            </a:r>
            <a:endParaRPr/>
          </a:p>
        </p:txBody>
      </p:sp>
      <p:sp>
        <p:nvSpPr>
          <p:cNvPr id="387" name="Google Shape;387;p30"/>
          <p:cNvSpPr txBox="1"/>
          <p:nvPr/>
        </p:nvSpPr>
        <p:spPr>
          <a:xfrm>
            <a:off x="1247775" y="4891087"/>
            <a:ext cx="4219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x: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The vector of unknown variables.</a:t>
            </a:r>
            <a:endParaRPr/>
          </a:p>
        </p:txBody>
      </p:sp>
      <p:sp>
        <p:nvSpPr>
          <p:cNvPr id="388" name="Google Shape;388;p30"/>
          <p:cNvSpPr txBox="1"/>
          <p:nvPr/>
        </p:nvSpPr>
        <p:spPr>
          <a:xfrm>
            <a:off x="1247775" y="5348287"/>
            <a:ext cx="42195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b: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The vector of results (the numbers after the = sign).</a:t>
            </a:r>
            <a:endParaRPr/>
          </a:p>
        </p:txBody>
      </p:sp>
      <p:sp>
        <p:nvSpPr>
          <p:cNvPr id="389" name="Google Shape;389;p30"/>
          <p:cNvSpPr txBox="1"/>
          <p:nvPr/>
        </p:nvSpPr>
        <p:spPr>
          <a:xfrm>
            <a:off x="962025" y="3348037"/>
            <a:ext cx="85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B2B88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390" name="Google Shape;390;p30"/>
          <p:cNvSpPr txBox="1"/>
          <p:nvPr/>
        </p:nvSpPr>
        <p:spPr>
          <a:xfrm>
            <a:off x="962025" y="4119562"/>
            <a:ext cx="85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B2B88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391" name="Google Shape;391;p30"/>
          <p:cNvSpPr txBox="1"/>
          <p:nvPr/>
        </p:nvSpPr>
        <p:spPr>
          <a:xfrm>
            <a:off x="962025" y="4891087"/>
            <a:ext cx="85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B2B88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392" name="Google Shape;392;p30"/>
          <p:cNvSpPr txBox="1"/>
          <p:nvPr/>
        </p:nvSpPr>
        <p:spPr>
          <a:xfrm>
            <a:off x="962025" y="5348287"/>
            <a:ext cx="85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B2B88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393" name="Google Shape;393;p30"/>
          <p:cNvSpPr txBox="1"/>
          <p:nvPr/>
        </p:nvSpPr>
        <p:spPr>
          <a:xfrm>
            <a:off x="571500" y="347662"/>
            <a:ext cx="11601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B2B88"/>
                </a:solidFill>
                <a:latin typeface="Merriweather"/>
                <a:ea typeface="Merriweather"/>
                <a:cs typeface="Merriweather"/>
                <a:sym typeface="Merriweather"/>
              </a:rPr>
              <a:t>Linear Systems (Ax = b)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98" name="Google Shape;39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9" name="Google Shape;399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273224"/>
            <a:ext cx="5334000" cy="16939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0" name="Google Shape;400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797099"/>
            <a:ext cx="5334000" cy="17579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1" name="Google Shape;401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971454"/>
            <a:ext cx="5334000" cy="1832520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31"/>
          <p:cNvSpPr txBox="1"/>
          <p:nvPr/>
        </p:nvSpPr>
        <p:spPr>
          <a:xfrm>
            <a:off x="571500" y="816024"/>
            <a:ext cx="56007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2B2B88"/>
                </a:solidFill>
                <a:latin typeface="Merriweather"/>
                <a:ea typeface="Merriweather"/>
                <a:cs typeface="Merriweather"/>
                <a:sym typeface="Merriweather"/>
              </a:rPr>
              <a:t>System of Equations</a:t>
            </a:r>
            <a:endParaRPr/>
          </a:p>
        </p:txBody>
      </p:sp>
      <p:sp>
        <p:nvSpPr>
          <p:cNvPr id="403" name="Google Shape;403;p31"/>
          <p:cNvSpPr txBox="1"/>
          <p:nvPr/>
        </p:nvSpPr>
        <p:spPr>
          <a:xfrm>
            <a:off x="6286500" y="816024"/>
            <a:ext cx="56007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2B2B88"/>
                </a:solidFill>
                <a:latin typeface="Merriweather"/>
                <a:ea typeface="Merriweather"/>
                <a:cs typeface="Merriweather"/>
                <a:sym typeface="Merriweather"/>
              </a:rPr>
              <a:t>Coefficient Matrix (A)</a:t>
            </a:r>
            <a:endParaRPr/>
          </a:p>
        </p:txBody>
      </p:sp>
      <p:sp>
        <p:nvSpPr>
          <p:cNvPr id="404" name="Google Shape;404;p31"/>
          <p:cNvSpPr txBox="1"/>
          <p:nvPr/>
        </p:nvSpPr>
        <p:spPr>
          <a:xfrm>
            <a:off x="6286500" y="1320849"/>
            <a:ext cx="5334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Contains only the coefficients of the unknowns.</a:t>
            </a:r>
            <a:endParaRPr/>
          </a:p>
        </p:txBody>
      </p:sp>
      <p:sp>
        <p:nvSpPr>
          <p:cNvPr id="405" name="Google Shape;405;p31"/>
          <p:cNvSpPr txBox="1"/>
          <p:nvPr/>
        </p:nvSpPr>
        <p:spPr>
          <a:xfrm>
            <a:off x="571500" y="3936057"/>
            <a:ext cx="56007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2B2B88"/>
                </a:solidFill>
                <a:latin typeface="Merriweather"/>
                <a:ea typeface="Merriweather"/>
                <a:cs typeface="Merriweather"/>
                <a:sym typeface="Merriweather"/>
              </a:rPr>
              <a:t>Augmented Matrix (    A   ˜   )</a:t>
            </a:r>
            <a:endParaRPr/>
          </a:p>
        </p:txBody>
      </p:sp>
      <p:sp>
        <p:nvSpPr>
          <p:cNvPr id="406" name="Google Shape;406;p31"/>
          <p:cNvSpPr txBox="1"/>
          <p:nvPr/>
        </p:nvSpPr>
        <p:spPr>
          <a:xfrm>
            <a:off x="571500" y="4495204"/>
            <a:ext cx="5334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Includes the coefficients and the right-hand side.</a:t>
            </a:r>
            <a:endParaRPr/>
          </a:p>
        </p:txBody>
      </p:sp>
      <p:sp>
        <p:nvSpPr>
          <p:cNvPr id="407" name="Google Shape;407;p31"/>
          <p:cNvSpPr txBox="1"/>
          <p:nvPr/>
        </p:nvSpPr>
        <p:spPr>
          <a:xfrm>
            <a:off x="571500" y="54024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B2B88"/>
                </a:solidFill>
                <a:latin typeface="Merriweather"/>
                <a:ea typeface="Merriweather"/>
                <a:cs typeface="Merriweather"/>
                <a:sym typeface="Merriweather"/>
              </a:rPr>
              <a:t>Application: Representing Linear Systems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2"/>
          <p:cNvSpPr txBox="1"/>
          <p:nvPr/>
        </p:nvSpPr>
        <p:spPr>
          <a:xfrm>
            <a:off x="664325" y="1319300"/>
            <a:ext cx="9792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This is a more practical method for large matrices. It uses EROs.</a:t>
            </a:r>
            <a:endParaRPr/>
          </a:p>
        </p:txBody>
      </p:sp>
      <p:sp>
        <p:nvSpPr>
          <p:cNvPr id="413" name="Google Shape;413;p32"/>
          <p:cNvSpPr txBox="1"/>
          <p:nvPr/>
        </p:nvSpPr>
        <p:spPr>
          <a:xfrm>
            <a:off x="1099538" y="1919371"/>
            <a:ext cx="9357000" cy="6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B2B88"/>
                </a:solidFill>
                <a:latin typeface="DM Sans"/>
                <a:ea typeface="DM Sans"/>
                <a:cs typeface="DM Sans"/>
                <a:sym typeface="DM Sans"/>
              </a:rPr>
              <a:t>Step 1: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Create a new "augmented" matrix by placing the </a:t>
            </a:r>
            <a:r>
              <a:rPr b="1" i="0" lang="en-US" sz="1650" u="none" cap="none" strike="noStrike">
                <a:solidFill>
                  <a:srgbClr val="2B2B88"/>
                </a:solidFill>
                <a:latin typeface="DM Sans"/>
                <a:ea typeface="DM Sans"/>
                <a:cs typeface="DM Sans"/>
                <a:sym typeface="DM Sans"/>
              </a:rPr>
              <a:t>Identity matrix (I)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next to A.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650" u="none" cap="none" strike="noStrike">
                <a:solidFill>
                  <a:srgbClr val="2B2B88"/>
                </a:solidFill>
                <a:latin typeface="DM Sans"/>
                <a:ea typeface="DM Sans"/>
                <a:cs typeface="DM Sans"/>
                <a:sym typeface="DM Sans"/>
              </a:rPr>
              <a:t>[ A | I ]</a:t>
            </a:r>
            <a:endParaRPr/>
          </a:p>
        </p:txBody>
      </p:sp>
      <p:sp>
        <p:nvSpPr>
          <p:cNvPr id="414" name="Google Shape;414;p32"/>
          <p:cNvSpPr txBox="1"/>
          <p:nvPr/>
        </p:nvSpPr>
        <p:spPr>
          <a:xfrm>
            <a:off x="1099538" y="3115793"/>
            <a:ext cx="9357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B2B88"/>
                </a:solidFill>
                <a:latin typeface="DM Sans"/>
                <a:ea typeface="DM Sans"/>
                <a:cs typeface="DM Sans"/>
                <a:sym typeface="DM Sans"/>
              </a:rPr>
              <a:t>Step 2: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Use </a:t>
            </a:r>
            <a:r>
              <a:rPr b="1" i="0" lang="en-US" sz="1650" u="none" cap="none" strike="noStrike">
                <a:solidFill>
                  <a:srgbClr val="2B2B88"/>
                </a:solidFill>
                <a:latin typeface="DM Sans"/>
                <a:ea typeface="DM Sans"/>
                <a:cs typeface="DM Sans"/>
                <a:sym typeface="DM Sans"/>
              </a:rPr>
              <a:t>Gauss-Jordan Elimination (EROs)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to turn the </a:t>
            </a:r>
            <a:r>
              <a:rPr b="1" i="0" lang="en-US" sz="1650" u="none" cap="none" strike="noStrike">
                <a:solidFill>
                  <a:srgbClr val="2B2B88"/>
                </a:solidFill>
                <a:latin typeface="DM Sans"/>
                <a:ea typeface="DM Sans"/>
                <a:cs typeface="DM Sans"/>
                <a:sym typeface="DM Sans"/>
              </a:rPr>
              <a:t>left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half (A) into the Identity Matrix.</a:t>
            </a:r>
            <a:endParaRPr/>
          </a:p>
        </p:txBody>
      </p:sp>
      <p:sp>
        <p:nvSpPr>
          <p:cNvPr id="415" name="Google Shape;415;p32"/>
          <p:cNvSpPr txBox="1"/>
          <p:nvPr/>
        </p:nvSpPr>
        <p:spPr>
          <a:xfrm>
            <a:off x="1099538" y="3934938"/>
            <a:ext cx="9357000" cy="6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B2B88"/>
                </a:solidFill>
                <a:latin typeface="DM Sans"/>
                <a:ea typeface="DM Sans"/>
                <a:cs typeface="DM Sans"/>
                <a:sym typeface="DM Sans"/>
              </a:rPr>
              <a:t>Step 3: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What's left on the </a:t>
            </a:r>
            <a:r>
              <a:rPr b="1" i="0" lang="en-US" sz="1650" u="none" cap="none" strike="noStrike">
                <a:solidFill>
                  <a:srgbClr val="2B2B88"/>
                </a:solidFill>
                <a:latin typeface="DM Sans"/>
                <a:ea typeface="DM Sans"/>
                <a:cs typeface="DM Sans"/>
                <a:sym typeface="DM Sans"/>
              </a:rPr>
              <a:t>right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half is your answer!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650" u="none" cap="none" strike="noStrike">
                <a:solidFill>
                  <a:srgbClr val="2B2B88"/>
                </a:solidFill>
                <a:latin typeface="DM Sans"/>
                <a:ea typeface="DM Sans"/>
                <a:cs typeface="DM Sans"/>
                <a:sym typeface="DM Sans"/>
              </a:rPr>
              <a:t>[ I | A-1 ]</a:t>
            </a:r>
            <a:endParaRPr/>
          </a:p>
        </p:txBody>
      </p:sp>
      <p:sp>
        <p:nvSpPr>
          <p:cNvPr id="416" name="Google Shape;416;p32"/>
          <p:cNvSpPr txBox="1"/>
          <p:nvPr/>
        </p:nvSpPr>
        <p:spPr>
          <a:xfrm>
            <a:off x="1099538" y="4872252"/>
            <a:ext cx="9357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If you can't get </a:t>
            </a:r>
            <a:r>
              <a:rPr b="1" i="0" lang="en-US" sz="1650" u="none" cap="none" strike="noStrike">
                <a:solidFill>
                  <a:srgbClr val="2B2B88"/>
                </a:solidFill>
                <a:latin typeface="DM Sans"/>
                <a:ea typeface="DM Sans"/>
                <a:cs typeface="DM Sans"/>
                <a:sym typeface="DM Sans"/>
              </a:rPr>
              <a:t>I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on the left (e.g., you get a row of zeros), the matrix has </a:t>
            </a:r>
            <a:r>
              <a:rPr b="1" i="0" lang="en-US" sz="1650" u="none" cap="none" strike="noStrike">
                <a:solidFill>
                  <a:srgbClr val="2B2B88"/>
                </a:solidFill>
                <a:latin typeface="DM Sans"/>
                <a:ea typeface="DM Sans"/>
                <a:cs typeface="DM Sans"/>
                <a:sym typeface="DM Sans"/>
              </a:rPr>
              <a:t>no inverse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pic>
        <p:nvPicPr>
          <p:cNvPr descr="image.png" id="417" name="Google Shape;417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4325" y="1966996"/>
            <a:ext cx="272008" cy="2285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8" name="Google Shape;418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4325" y="3163417"/>
            <a:ext cx="272008" cy="2285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9" name="Google Shape;419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4325" y="3982562"/>
            <a:ext cx="272008" cy="2285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0" name="Google Shape;420;p3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4325" y="4919876"/>
            <a:ext cx="272008" cy="228599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32"/>
          <p:cNvSpPr txBox="1"/>
          <p:nvPr/>
        </p:nvSpPr>
        <p:spPr>
          <a:xfrm>
            <a:off x="571500" y="571500"/>
            <a:ext cx="11601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B2B88"/>
                </a:solidFill>
                <a:latin typeface="Merriweather"/>
                <a:ea typeface="Merriweather"/>
                <a:cs typeface="Merriweather"/>
                <a:sym typeface="Merriweather"/>
              </a:rPr>
              <a:t>Finding the Inverse (Method 2: Gauss-Jordan)</a:t>
            </a:r>
            <a:endParaRPr/>
          </a:p>
        </p:txBody>
      </p:sp>
      <p:pic>
        <p:nvPicPr>
          <p:cNvPr id="422" name="Google Shape;422;p3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81025" y="5460350"/>
            <a:ext cx="3467100" cy="108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27" name="Google Shape;427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8" name="Google Shape;428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57387"/>
            <a:ext cx="5286375" cy="384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9" name="Google Shape;429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957387"/>
            <a:ext cx="5286375" cy="3848100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33"/>
          <p:cNvSpPr txBox="1"/>
          <p:nvPr/>
        </p:nvSpPr>
        <p:spPr>
          <a:xfrm>
            <a:off x="962025" y="2347912"/>
            <a:ext cx="4730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B78A2D"/>
                </a:solidFill>
                <a:latin typeface="Merriweather"/>
                <a:ea typeface="Merriweather"/>
                <a:cs typeface="Merriweather"/>
                <a:sym typeface="Merriweather"/>
              </a:rPr>
              <a:t>Pivot Variables</a:t>
            </a:r>
            <a:endParaRPr/>
          </a:p>
        </p:txBody>
      </p:sp>
      <p:sp>
        <p:nvSpPr>
          <p:cNvPr id="431" name="Google Shape;431;p33"/>
          <p:cNvSpPr txBox="1"/>
          <p:nvPr/>
        </p:nvSpPr>
        <p:spPr>
          <a:xfrm>
            <a:off x="962025" y="2900362"/>
            <a:ext cx="45054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These are the variables that correspond to a </a:t>
            </a:r>
            <a:r>
              <a:rPr b="1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pivot column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in the RREF matrix.</a:t>
            </a:r>
            <a:endParaRPr/>
          </a:p>
        </p:txBody>
      </p:sp>
      <p:sp>
        <p:nvSpPr>
          <p:cNvPr id="432" name="Google Shape;432;p33"/>
          <p:cNvSpPr txBox="1"/>
          <p:nvPr/>
        </p:nvSpPr>
        <p:spPr>
          <a:xfrm>
            <a:off x="962025" y="3738562"/>
            <a:ext cx="45054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 pivot column is any column that contains a leading '1'.</a:t>
            </a:r>
            <a:endParaRPr/>
          </a:p>
        </p:txBody>
      </p:sp>
      <p:sp>
        <p:nvSpPr>
          <p:cNvPr id="433" name="Google Shape;433;p33"/>
          <p:cNvSpPr txBox="1"/>
          <p:nvPr/>
        </p:nvSpPr>
        <p:spPr>
          <a:xfrm>
            <a:off x="962025" y="4576762"/>
            <a:ext cx="45054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The values of these variables are </a:t>
            </a:r>
            <a:r>
              <a:rPr b="1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dependent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on the other variables.</a:t>
            </a:r>
            <a:endParaRPr/>
          </a:p>
        </p:txBody>
      </p:sp>
      <p:sp>
        <p:nvSpPr>
          <p:cNvPr id="434" name="Google Shape;434;p33"/>
          <p:cNvSpPr txBox="1"/>
          <p:nvPr/>
        </p:nvSpPr>
        <p:spPr>
          <a:xfrm>
            <a:off x="6724650" y="2347912"/>
            <a:ext cx="4730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B78A2D"/>
                </a:solidFill>
                <a:latin typeface="Merriweather"/>
                <a:ea typeface="Merriweather"/>
                <a:cs typeface="Merriweather"/>
                <a:sym typeface="Merriweather"/>
              </a:rPr>
              <a:t>Free Variables</a:t>
            </a:r>
            <a:endParaRPr/>
          </a:p>
        </p:txBody>
      </p:sp>
      <p:sp>
        <p:nvSpPr>
          <p:cNvPr id="435" name="Google Shape;435;p33"/>
          <p:cNvSpPr txBox="1"/>
          <p:nvPr/>
        </p:nvSpPr>
        <p:spPr>
          <a:xfrm>
            <a:off x="6724650" y="2900362"/>
            <a:ext cx="45054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These are the variables that correspond to a </a:t>
            </a:r>
            <a:r>
              <a:rPr b="1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non-pivot column</a:t>
            </a:r>
            <a:r>
              <a:rPr lang="en-US" sz="165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= col without a pivot</a:t>
            </a:r>
            <a:endParaRPr/>
          </a:p>
        </p:txBody>
      </p:sp>
      <p:sp>
        <p:nvSpPr>
          <p:cNvPr id="436" name="Google Shape;436;p33"/>
          <p:cNvSpPr txBox="1"/>
          <p:nvPr/>
        </p:nvSpPr>
        <p:spPr>
          <a:xfrm>
            <a:off x="6724650" y="3738562"/>
            <a:ext cx="4505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 non-pivot column has no leading '1' in it.</a:t>
            </a:r>
            <a:endParaRPr/>
          </a:p>
        </p:txBody>
      </p:sp>
      <p:sp>
        <p:nvSpPr>
          <p:cNvPr id="437" name="Google Shape;437;p33"/>
          <p:cNvSpPr txBox="1"/>
          <p:nvPr/>
        </p:nvSpPr>
        <p:spPr>
          <a:xfrm>
            <a:off x="6724650" y="4262437"/>
            <a:ext cx="4505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You can set these variables to </a:t>
            </a:r>
            <a:r>
              <a:rPr b="1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any value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(like 't' or 's'), which is why you get an </a:t>
            </a:r>
            <a:r>
              <a:rPr b="1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infinite number of solutions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id="438" name="Google Shape;438;p33"/>
          <p:cNvSpPr txBox="1"/>
          <p:nvPr/>
        </p:nvSpPr>
        <p:spPr>
          <a:xfrm>
            <a:off x="571500" y="571500"/>
            <a:ext cx="11601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B2B88"/>
                </a:solidFill>
                <a:latin typeface="Merriweather"/>
                <a:ea typeface="Merriweather"/>
                <a:cs typeface="Merriweather"/>
                <a:sym typeface="Merriweather"/>
              </a:rPr>
              <a:t>Pivot vs. Free Variables</a:t>
            </a:r>
            <a:endParaRPr/>
          </a:p>
        </p:txBody>
      </p:sp>
      <p:pic>
        <p:nvPicPr>
          <p:cNvPr id="439" name="Google Shape;439;p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90575" y="169250"/>
            <a:ext cx="2376150" cy="167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4" name="Google Shape;44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1300" y="6163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35"/>
          <p:cNvSpPr txBox="1"/>
          <p:nvPr/>
        </p:nvSpPr>
        <p:spPr>
          <a:xfrm>
            <a:off x="664325" y="1654650"/>
            <a:ext cx="9864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This is why we do all this! Use EROs on the </a:t>
            </a:r>
            <a:r>
              <a:rPr b="1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Augmented Matrix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    A   |   b     to find the solution.</a:t>
            </a:r>
            <a:endParaRPr/>
          </a:p>
        </p:txBody>
      </p:sp>
      <p:sp>
        <p:nvSpPr>
          <p:cNvPr id="450" name="Google Shape;450;p35"/>
          <p:cNvSpPr txBox="1"/>
          <p:nvPr/>
        </p:nvSpPr>
        <p:spPr>
          <a:xfrm>
            <a:off x="3031689" y="2562235"/>
            <a:ext cx="8191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B2B88"/>
                </a:solidFill>
                <a:latin typeface="DM Sans"/>
                <a:ea typeface="DM Sans"/>
                <a:cs typeface="DM Sans"/>
                <a:sym typeface="DM Sans"/>
              </a:rPr>
              <a:t>One Unique Solution: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Ranks are equal and match the number of variables.</a:t>
            </a:r>
            <a:endParaRPr b="0" i="0" sz="1650" u="none" cap="none" strike="noStrike">
              <a:solidFill>
                <a:srgbClr val="333333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There are </a:t>
            </a:r>
            <a:r>
              <a:rPr b="1" lang="en-US" sz="1650">
                <a:solidFill>
                  <a:srgbClr val="2B2B88"/>
                </a:solidFill>
                <a:latin typeface="DM Sans"/>
                <a:ea typeface="DM Sans"/>
                <a:cs typeface="DM Sans"/>
                <a:sym typeface="DM Sans"/>
              </a:rPr>
              <a:t>no free variables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 </a:t>
            </a:r>
            <a:endParaRPr b="0" i="0" sz="1650" u="none" cap="none" strike="noStrike">
              <a:solidFill>
                <a:srgbClr val="333333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2B2B88"/>
                </a:solidFill>
                <a:latin typeface="DM Sans"/>
                <a:ea typeface="DM Sans"/>
                <a:cs typeface="DM Sans"/>
                <a:sym typeface="DM Sans"/>
              </a:rPr>
              <a:t>Rank(A) = Rank([A | b]) = n</a:t>
            </a:r>
            <a:r>
              <a:rPr lang="en-US" sz="165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/>
          </a:p>
        </p:txBody>
      </p:sp>
      <p:sp>
        <p:nvSpPr>
          <p:cNvPr id="451" name="Google Shape;451;p35"/>
          <p:cNvSpPr txBox="1"/>
          <p:nvPr/>
        </p:nvSpPr>
        <p:spPr>
          <a:xfrm>
            <a:off x="3031689" y="3801854"/>
            <a:ext cx="8191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B2B88"/>
                </a:solidFill>
                <a:latin typeface="DM Sans"/>
                <a:ea typeface="DM Sans"/>
                <a:cs typeface="DM Sans"/>
                <a:sym typeface="DM Sans"/>
              </a:rPr>
              <a:t>Infinite Solutions: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Ranks are equal, but </a:t>
            </a:r>
            <a:r>
              <a:rPr b="1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less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than the number of variables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. </a:t>
            </a:r>
            <a:endParaRPr b="0" i="0" sz="1650" u="none" cap="none" strike="noStrike">
              <a:solidFill>
                <a:srgbClr val="333333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This means you have </a:t>
            </a:r>
            <a:r>
              <a:rPr b="1" lang="en-US" sz="1650">
                <a:solidFill>
                  <a:srgbClr val="2B2B88"/>
                </a:solidFill>
                <a:latin typeface="DM Sans"/>
                <a:ea typeface="DM Sans"/>
                <a:cs typeface="DM Sans"/>
                <a:sym typeface="DM Sans"/>
              </a:rPr>
              <a:t>free variables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1" lang="en-US" sz="1650">
                <a:solidFill>
                  <a:srgbClr val="2B2B88"/>
                </a:solidFill>
                <a:latin typeface="DM Sans"/>
                <a:ea typeface="DM Sans"/>
                <a:cs typeface="DM Sans"/>
                <a:sym typeface="DM Sans"/>
              </a:rPr>
              <a:t>Rank(A) = Rank([A | b]) &lt; n</a:t>
            </a:r>
            <a:r>
              <a:rPr lang="en-US" sz="165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/>
          </a:p>
        </p:txBody>
      </p:sp>
      <p:sp>
        <p:nvSpPr>
          <p:cNvPr id="452" name="Google Shape;452;p35"/>
          <p:cNvSpPr txBox="1"/>
          <p:nvPr/>
        </p:nvSpPr>
        <p:spPr>
          <a:xfrm>
            <a:off x="1478317" y="4997975"/>
            <a:ext cx="27438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B2B88"/>
                </a:solidFill>
                <a:latin typeface="DM Sans"/>
                <a:ea typeface="DM Sans"/>
                <a:cs typeface="DM Sans"/>
                <a:sym typeface="DM Sans"/>
              </a:rPr>
              <a:t>No Solution: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5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Ranks are unequal</a:t>
            </a:r>
            <a:endParaRPr sz="1650">
              <a:solidFill>
                <a:srgbClr val="333333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650">
                <a:solidFill>
                  <a:srgbClr val="2B2B88"/>
                </a:solidFill>
                <a:latin typeface="DM Sans"/>
                <a:ea typeface="DM Sans"/>
                <a:cs typeface="DM Sans"/>
                <a:sym typeface="DM Sans"/>
              </a:rPr>
              <a:t>Rank(A) &lt; Rank([A | b])</a:t>
            </a:r>
            <a:r>
              <a:rPr lang="en-US" sz="165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sz="1650">
              <a:solidFill>
                <a:srgbClr val="33333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descr="image.png" id="453" name="Google Shape;453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50689" y="2609860"/>
            <a:ext cx="2381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4" name="Google Shape;454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50689" y="3849479"/>
            <a:ext cx="2381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5" name="Google Shape;455;p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650689" y="5045601"/>
            <a:ext cx="2381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35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B2B88"/>
                </a:solidFill>
                <a:latin typeface="Merriweather"/>
                <a:ea typeface="Merriweather"/>
                <a:cs typeface="Merriweather"/>
                <a:sym typeface="Merriweather"/>
              </a:rPr>
              <a:t>Linear Systems (Solving Ax = b)</a:t>
            </a:r>
            <a:endParaRPr/>
          </a:p>
        </p:txBody>
      </p:sp>
      <p:sp>
        <p:nvSpPr>
          <p:cNvPr id="457" name="Google Shape;457;p35"/>
          <p:cNvSpPr txBox="1"/>
          <p:nvPr/>
        </p:nvSpPr>
        <p:spPr>
          <a:xfrm>
            <a:off x="695944" y="2585560"/>
            <a:ext cx="47307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B78A2D"/>
                </a:solidFill>
                <a:latin typeface="Merriweather"/>
                <a:ea typeface="Merriweather"/>
                <a:cs typeface="Merriweather"/>
                <a:sym typeface="Merriweather"/>
              </a:rPr>
              <a:t>Consistent Soln:</a:t>
            </a:r>
            <a:endParaRPr sz="1000"/>
          </a:p>
        </p:txBody>
      </p:sp>
      <p:sp>
        <p:nvSpPr>
          <p:cNvPr id="458" name="Google Shape;458;p35"/>
          <p:cNvSpPr txBox="1"/>
          <p:nvPr/>
        </p:nvSpPr>
        <p:spPr>
          <a:xfrm>
            <a:off x="695949" y="5055194"/>
            <a:ext cx="1584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B78A2D"/>
                </a:solidFill>
                <a:latin typeface="Merriweather"/>
                <a:ea typeface="Merriweather"/>
                <a:cs typeface="Merriweather"/>
                <a:sym typeface="Merriweather"/>
              </a:rPr>
              <a:t>Inc</a:t>
            </a:r>
            <a:r>
              <a:rPr b="1" lang="en-US" sz="1600">
                <a:solidFill>
                  <a:srgbClr val="B78A2D"/>
                </a:solidFill>
                <a:latin typeface="Merriweather"/>
                <a:ea typeface="Merriweather"/>
                <a:cs typeface="Merriweather"/>
                <a:sym typeface="Merriweather"/>
              </a:rPr>
              <a:t>onsistent Soln:</a:t>
            </a:r>
            <a:endParaRPr sz="900"/>
          </a:p>
        </p:txBody>
      </p:sp>
      <p:sp>
        <p:nvSpPr>
          <p:cNvPr id="459" name="Google Shape;459;p35"/>
          <p:cNvSpPr txBox="1"/>
          <p:nvPr/>
        </p:nvSpPr>
        <p:spPr>
          <a:xfrm>
            <a:off x="630869" y="3832979"/>
            <a:ext cx="47307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B78A2D"/>
                </a:solidFill>
                <a:latin typeface="Merriweather"/>
                <a:ea typeface="Merriweather"/>
                <a:cs typeface="Merriweather"/>
                <a:sym typeface="Merriweather"/>
              </a:rPr>
              <a:t>Consistent Soln:</a:t>
            </a:r>
            <a:endParaRPr sz="1000"/>
          </a:p>
        </p:txBody>
      </p:sp>
      <p:pic>
        <p:nvPicPr>
          <p:cNvPr id="460" name="Google Shape;460;p3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366420" y="4754345"/>
            <a:ext cx="7523376" cy="174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36"/>
          <p:cNvSpPr txBox="1"/>
          <p:nvPr/>
        </p:nvSpPr>
        <p:spPr>
          <a:xfrm>
            <a:off x="649825" y="1509675"/>
            <a:ext cx="9864900" cy="52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>
                <a:solidFill>
                  <a:schemeClr val="dk1"/>
                </a:solidFill>
              </a:rPr>
              <a:t>Step 1: ⭕</a:t>
            </a:r>
            <a:endParaRPr sz="2800">
              <a:solidFill>
                <a:schemeClr val="dk1"/>
              </a:solidFill>
            </a:endParaRPr>
          </a:p>
          <a:p>
            <a:pPr indent="-342900" lvl="0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-US" sz="2400">
                <a:solidFill>
                  <a:schemeClr val="dk1"/>
                </a:solidFill>
              </a:rPr>
              <a:t>Pivot = 1</a:t>
            </a:r>
            <a:r>
              <a:rPr baseline="30000" lang="en-US" sz="4000">
                <a:solidFill>
                  <a:schemeClr val="dk1"/>
                </a:solidFill>
              </a:rPr>
              <a:t>st</a:t>
            </a:r>
            <a:r>
              <a:rPr lang="en-US" sz="2400">
                <a:solidFill>
                  <a:schemeClr val="dk1"/>
                </a:solidFill>
              </a:rPr>
              <a:t> non-zero number in a row = circled</a:t>
            </a:r>
            <a:endParaRPr sz="2400">
              <a:solidFill>
                <a:schemeClr val="dk1"/>
              </a:solidFill>
            </a:endParaRPr>
          </a:p>
          <a:p>
            <a:pPr indent="0" lvl="0" marL="127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>
                <a:solidFill>
                  <a:schemeClr val="dk1"/>
                </a:solidFill>
              </a:rPr>
              <a:t>Step 2: col with ⭕</a:t>
            </a:r>
            <a:endParaRPr sz="2800">
              <a:solidFill>
                <a:schemeClr val="dk1"/>
              </a:solidFill>
            </a:endParaRPr>
          </a:p>
          <a:p>
            <a:pPr indent="-381000" lvl="0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-"/>
            </a:pPr>
            <a:r>
              <a:rPr lang="en-US" sz="2400">
                <a:solidFill>
                  <a:schemeClr val="dk1"/>
                </a:solidFill>
              </a:rPr>
              <a:t>Pivot variable = a column having a pivot number (circle)</a:t>
            </a:r>
            <a:endParaRPr sz="2400">
              <a:solidFill>
                <a:schemeClr val="dk1"/>
              </a:solidFill>
            </a:endParaRPr>
          </a:p>
          <a:p>
            <a:pPr indent="-381000" lvl="0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-"/>
            </a:pPr>
            <a:r>
              <a:rPr lang="en-US" sz="2400">
                <a:solidFill>
                  <a:schemeClr val="dk1"/>
                </a:solidFill>
              </a:rPr>
              <a:t>Free variable = a column not having a pivot number (circle)</a:t>
            </a:r>
            <a:endParaRPr sz="2400">
              <a:solidFill>
                <a:schemeClr val="dk1"/>
              </a:solidFill>
            </a:endParaRPr>
          </a:p>
          <a:p>
            <a:pPr indent="0" lvl="0" marL="127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>
                <a:solidFill>
                  <a:schemeClr val="dk1"/>
                </a:solidFill>
              </a:rPr>
              <a:t>Step 3: Consistent solution</a:t>
            </a:r>
            <a:endParaRPr sz="2800">
              <a:solidFill>
                <a:schemeClr val="dk1"/>
              </a:solidFill>
            </a:endParaRPr>
          </a:p>
          <a:p>
            <a:pPr indent="-381000" lvl="0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-"/>
            </a:pPr>
            <a:r>
              <a:rPr lang="en-US" sz="2400">
                <a:solidFill>
                  <a:schemeClr val="dk1"/>
                </a:solidFill>
              </a:rPr>
              <a:t>♾️ soln = atleast 1 free variable</a:t>
            </a:r>
            <a:endParaRPr sz="2400">
              <a:solidFill>
                <a:schemeClr val="dk1"/>
              </a:solidFill>
            </a:endParaRPr>
          </a:p>
          <a:p>
            <a:pPr indent="-381000" lvl="0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-"/>
            </a:pPr>
            <a:r>
              <a:rPr lang="en-US" sz="2400">
                <a:solidFill>
                  <a:schemeClr val="dk1"/>
                </a:solidFill>
              </a:rPr>
              <a:t>1️⃣ soln = no free variable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rgbClr val="33333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66" name="Google Shape;466;p36"/>
          <p:cNvSpPr txBox="1"/>
          <p:nvPr/>
        </p:nvSpPr>
        <p:spPr>
          <a:xfrm>
            <a:off x="571500" y="571500"/>
            <a:ext cx="11601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B2B88"/>
                </a:solidFill>
                <a:latin typeface="Merriweather"/>
                <a:ea typeface="Merriweather"/>
                <a:cs typeface="Merriweather"/>
                <a:sym typeface="Merriweather"/>
              </a:rPr>
              <a:t>Linear Systems (Solving Ax = b)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37"/>
          <p:cNvSpPr txBox="1"/>
          <p:nvPr/>
        </p:nvSpPr>
        <p:spPr>
          <a:xfrm>
            <a:off x="649825" y="1509675"/>
            <a:ext cx="9864900" cy="40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 sz="2800">
                <a:solidFill>
                  <a:schemeClr val="dk1"/>
                </a:solidFill>
              </a:rPr>
              <a:t>rank(A) &lt; rank(A:B)    -&gt; Inconsistent </a:t>
            </a:r>
            <a:endParaRPr sz="28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</a:rPr>
              <a:t>(parallel lines/no possible answer)</a:t>
            </a:r>
            <a:endParaRPr sz="2800">
              <a:solidFill>
                <a:schemeClr val="dk1"/>
              </a:solidFill>
            </a:endParaRPr>
          </a:p>
          <a:p>
            <a:pPr indent="-12700" lvl="0" marL="127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 sz="2800">
                <a:solidFill>
                  <a:schemeClr val="dk1"/>
                </a:solidFill>
              </a:rPr>
              <a:t>rank(A) = rank(Ã)    -&gt;  Consistent</a:t>
            </a:r>
            <a:endParaRPr sz="2800">
              <a:solidFill>
                <a:schemeClr val="dk1"/>
              </a:solidFill>
            </a:endParaRPr>
          </a:p>
          <a:p>
            <a:pPr indent="-381000" lvl="0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-"/>
            </a:pPr>
            <a:r>
              <a:rPr lang="en-US" sz="2400">
                <a:solidFill>
                  <a:schemeClr val="dk1"/>
                </a:solidFill>
              </a:rPr>
              <a:t>Free Variables = 0      </a:t>
            </a:r>
            <a:r>
              <a:rPr lang="en-US" sz="2800">
                <a:solidFill>
                  <a:schemeClr val="dk1"/>
                </a:solidFill>
              </a:rPr>
              <a:t>-&gt;</a:t>
            </a:r>
            <a:r>
              <a:rPr lang="en-US" sz="2400">
                <a:solidFill>
                  <a:schemeClr val="dk1"/>
                </a:solidFill>
              </a:rPr>
              <a:t> 1️⃣ soln</a:t>
            </a:r>
            <a:endParaRPr sz="2400">
              <a:solidFill>
                <a:schemeClr val="dk1"/>
              </a:solidFill>
            </a:endParaRPr>
          </a:p>
          <a:p>
            <a:pPr indent="-381000" lvl="0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-"/>
            </a:pPr>
            <a:r>
              <a:rPr lang="en-US" sz="2400">
                <a:solidFill>
                  <a:schemeClr val="dk1"/>
                </a:solidFill>
              </a:rPr>
              <a:t>Free Variables &gt;= 1    </a:t>
            </a:r>
            <a:r>
              <a:rPr lang="en-US" sz="2800">
                <a:solidFill>
                  <a:schemeClr val="dk1"/>
                </a:solidFill>
              </a:rPr>
              <a:t>-&gt;</a:t>
            </a:r>
            <a:r>
              <a:rPr lang="en-US" sz="2400">
                <a:solidFill>
                  <a:schemeClr val="dk1"/>
                </a:solidFill>
              </a:rPr>
              <a:t> ♾️ soln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472" name="Google Shape;472;p37"/>
          <p:cNvSpPr txBox="1"/>
          <p:nvPr/>
        </p:nvSpPr>
        <p:spPr>
          <a:xfrm>
            <a:off x="571500" y="571500"/>
            <a:ext cx="11601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4400">
                <a:solidFill>
                  <a:schemeClr val="dk1"/>
                </a:solidFill>
              </a:rPr>
              <a:t>Algorithm to check consistency</a:t>
            </a:r>
            <a:endParaRPr b="1" sz="3300">
              <a:solidFill>
                <a:srgbClr val="2B2B88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77" name="Google Shape;477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8"/>
          <p:cNvSpPr txBox="1"/>
          <p:nvPr/>
        </p:nvSpPr>
        <p:spPr>
          <a:xfrm>
            <a:off x="485775" y="4872037"/>
            <a:ext cx="3600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B2B88"/>
                </a:solidFill>
                <a:latin typeface="Merriweather"/>
                <a:ea typeface="Merriweather"/>
                <a:cs typeface="Merriweather"/>
                <a:sym typeface="Merriweather"/>
              </a:rPr>
              <a:t>1. Unique Solution</a:t>
            </a:r>
            <a:endParaRPr/>
          </a:p>
        </p:txBody>
      </p:sp>
      <p:sp>
        <p:nvSpPr>
          <p:cNvPr id="479" name="Google Shape;479;p38"/>
          <p:cNvSpPr txBox="1"/>
          <p:nvPr/>
        </p:nvSpPr>
        <p:spPr>
          <a:xfrm>
            <a:off x="571500" y="5386387"/>
            <a:ext cx="3429000" cy="4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B2B88"/>
                </a:solidFill>
                <a:latin typeface="DM Sans"/>
                <a:ea typeface="DM Sans"/>
                <a:cs typeface="DM Sans"/>
                <a:sym typeface="DM Sans"/>
              </a:rPr>
              <a:t>The lines intersect at exactly one point.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50" u="none" cap="none" strike="noStrike">
                <a:solidFill>
                  <a:srgbClr val="2B2B88"/>
                </a:solidFill>
                <a:latin typeface="DM Sans"/>
                <a:ea typeface="DM Sans"/>
                <a:cs typeface="DM Sans"/>
                <a:sym typeface="DM Sans"/>
              </a:rPr>
              <a:t> (Consistent)</a:t>
            </a:r>
            <a:endParaRPr/>
          </a:p>
        </p:txBody>
      </p:sp>
      <p:sp>
        <p:nvSpPr>
          <p:cNvPr id="480" name="Google Shape;480;p38"/>
          <p:cNvSpPr txBox="1"/>
          <p:nvPr/>
        </p:nvSpPr>
        <p:spPr>
          <a:xfrm>
            <a:off x="4295775" y="4872037"/>
            <a:ext cx="3600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B2B88"/>
                </a:solidFill>
                <a:latin typeface="Merriweather"/>
                <a:ea typeface="Merriweather"/>
                <a:cs typeface="Merriweather"/>
                <a:sym typeface="Merriweather"/>
              </a:rPr>
              <a:t>2. No Solution</a:t>
            </a:r>
            <a:endParaRPr/>
          </a:p>
        </p:txBody>
      </p:sp>
      <p:sp>
        <p:nvSpPr>
          <p:cNvPr id="481" name="Google Shape;481;p38"/>
          <p:cNvSpPr txBox="1"/>
          <p:nvPr/>
        </p:nvSpPr>
        <p:spPr>
          <a:xfrm>
            <a:off x="4381500" y="5386387"/>
            <a:ext cx="3429000" cy="4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B2B88"/>
                </a:solidFill>
                <a:latin typeface="DM Sans"/>
                <a:ea typeface="DM Sans"/>
                <a:cs typeface="DM Sans"/>
                <a:sym typeface="DM Sans"/>
              </a:rPr>
              <a:t>The lines are parallel and never touch.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50" u="none" cap="none" strike="noStrike">
                <a:solidFill>
                  <a:srgbClr val="2B2B88"/>
                </a:solidFill>
                <a:latin typeface="DM Sans"/>
                <a:ea typeface="DM Sans"/>
                <a:cs typeface="DM Sans"/>
                <a:sym typeface="DM Sans"/>
              </a:rPr>
              <a:t> (Inconsistent)</a:t>
            </a:r>
            <a:endParaRPr/>
          </a:p>
        </p:txBody>
      </p:sp>
      <p:sp>
        <p:nvSpPr>
          <p:cNvPr id="482" name="Google Shape;482;p38"/>
          <p:cNvSpPr txBox="1"/>
          <p:nvPr/>
        </p:nvSpPr>
        <p:spPr>
          <a:xfrm>
            <a:off x="8105775" y="4872037"/>
            <a:ext cx="3600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B2B88"/>
                </a:solidFill>
                <a:latin typeface="Merriweather"/>
                <a:ea typeface="Merriweather"/>
                <a:cs typeface="Merriweather"/>
                <a:sym typeface="Merriweather"/>
              </a:rPr>
              <a:t>3. Infinitely Many Solutions</a:t>
            </a:r>
            <a:endParaRPr/>
          </a:p>
        </p:txBody>
      </p:sp>
      <p:sp>
        <p:nvSpPr>
          <p:cNvPr id="483" name="Google Shape;483;p38"/>
          <p:cNvSpPr txBox="1"/>
          <p:nvPr/>
        </p:nvSpPr>
        <p:spPr>
          <a:xfrm>
            <a:off x="8191500" y="5729287"/>
            <a:ext cx="3429000" cy="4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B2B88"/>
                </a:solidFill>
                <a:latin typeface="DM Sans"/>
                <a:ea typeface="DM Sans"/>
                <a:cs typeface="DM Sans"/>
                <a:sym typeface="DM Sans"/>
              </a:rPr>
              <a:t>Both equations describe the same line.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50" u="none" cap="none" strike="noStrike">
                <a:solidFill>
                  <a:srgbClr val="2B2B88"/>
                </a:solidFill>
                <a:latin typeface="DM Sans"/>
                <a:ea typeface="DM Sans"/>
                <a:cs typeface="DM Sans"/>
                <a:sym typeface="DM Sans"/>
              </a:rPr>
              <a:t> (Consistent)</a:t>
            </a:r>
            <a:endParaRPr/>
          </a:p>
        </p:txBody>
      </p:sp>
      <p:sp>
        <p:nvSpPr>
          <p:cNvPr id="484" name="Google Shape;484;p38"/>
          <p:cNvSpPr txBox="1"/>
          <p:nvPr/>
        </p:nvSpPr>
        <p:spPr>
          <a:xfrm>
            <a:off x="571500" y="442912"/>
            <a:ext cx="11601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B2B88"/>
                </a:solidFill>
                <a:latin typeface="Merriweather"/>
                <a:ea typeface="Merriweather"/>
                <a:cs typeface="Merriweather"/>
                <a:sym typeface="Merriweather"/>
              </a:rPr>
              <a:t>The Three Solution Types (Geometric View)</a:t>
            </a:r>
            <a:endParaRPr/>
          </a:p>
        </p:txBody>
      </p:sp>
      <p:pic>
        <p:nvPicPr>
          <p:cNvPr id="485" name="Google Shape;485;p38"/>
          <p:cNvPicPr preferRelativeResize="0"/>
          <p:nvPr/>
        </p:nvPicPr>
        <p:blipFill rotWithShape="1">
          <a:blip r:embed="rId4">
            <a:alphaModFix/>
          </a:blip>
          <a:srcRect b="32894" l="0" r="0" t="0"/>
          <a:stretch/>
        </p:blipFill>
        <p:spPr>
          <a:xfrm>
            <a:off x="0" y="0"/>
            <a:ext cx="12192000" cy="460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